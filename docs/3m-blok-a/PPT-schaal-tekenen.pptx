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51" r:id="rId5"/>
  </p:sldMasterIdLst>
  <p:notesMasterIdLst>
    <p:notesMasterId r:id="rId23"/>
  </p:notesMasterIdLst>
  <p:sldIdLst>
    <p:sldId id="256" r:id="rId6"/>
    <p:sldId id="257" r:id="rId7"/>
    <p:sldId id="258" r:id="rId8"/>
    <p:sldId id="259" r:id="rId9"/>
    <p:sldId id="260" r:id="rId10"/>
    <p:sldId id="275" r:id="rId11"/>
    <p:sldId id="274" r:id="rId12"/>
    <p:sldId id="273" r:id="rId13"/>
    <p:sldId id="276" r:id="rId14"/>
    <p:sldId id="272" r:id="rId15"/>
    <p:sldId id="271" r:id="rId16"/>
    <p:sldId id="270" r:id="rId17"/>
    <p:sldId id="269" r:id="rId18"/>
    <p:sldId id="268" r:id="rId19"/>
    <p:sldId id="267" r:id="rId20"/>
    <p:sldId id="264" r:id="rId21"/>
    <p:sldId id="265" r:id="rId2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37"/>
  </p:normalViewPr>
  <p:slideViewPr>
    <p:cSldViewPr snapToGrid="0" snapToObjects="1">
      <p:cViewPr varScale="1">
        <p:scale>
          <a:sx n="105" d="100"/>
          <a:sy n="105" d="100"/>
        </p:scale>
        <p:origin x="79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sper Huiting" userId="73c9bfea-a56b-44e6-8f7c-b6f002e9614e" providerId="ADAL" clId="{DBCADEFA-05F2-478E-9323-918D733E9066}"/>
    <pc:docChg chg="custSel addSld delSld modSld">
      <pc:chgData name="Jasper Huiting" userId="73c9bfea-a56b-44e6-8f7c-b6f002e9614e" providerId="ADAL" clId="{DBCADEFA-05F2-478E-9323-918D733E9066}" dt="2026-09-01T10:50:22.173" v="384" actId="20577"/>
      <pc:docMkLst>
        <pc:docMk/>
      </pc:docMkLst>
      <pc:sldChg chg="modSp mod">
        <pc:chgData name="Jasper Huiting" userId="73c9bfea-a56b-44e6-8f7c-b6f002e9614e" providerId="ADAL" clId="{DBCADEFA-05F2-478E-9323-918D733E9066}" dt="2026-09-01T10:50:22.173" v="384" actId="20577"/>
        <pc:sldMkLst>
          <pc:docMk/>
          <pc:sldMk cId="88492030" sldId="259"/>
        </pc:sldMkLst>
        <pc:spChg chg="mod">
          <ac:chgData name="Jasper Huiting" userId="73c9bfea-a56b-44e6-8f7c-b6f002e9614e" providerId="ADAL" clId="{DBCADEFA-05F2-478E-9323-918D733E9066}" dt="2026-09-01T10:50:22.173" v="384" actId="20577"/>
          <ac:spMkLst>
            <pc:docMk/>
            <pc:sldMk cId="88492030" sldId="259"/>
            <ac:spMk id="3" creationId="{7D313736-98BA-C541-ADDD-3CB66F2E33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950052-F0BF-4640-83A7-89C0BE5095FA}" type="datetimeFigureOut">
              <a:rPr lang="nl-NL" smtClean="0"/>
              <a:t>31-8-2026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E55CA4-8F42-4B35-9FD4-C26BFDF6DFC5}" type="slidenum">
              <a:rPr lang="nl-NL" smtClean="0"/>
              <a:t>‹nr.›</a:t>
            </a:fld>
            <a:endParaRPr lang="nl-NL"/>
          </a:p>
        </p:txBody>
      </p:sp>
    </p:spTree>
    <p:extLst>
      <p:ext uri="{BB962C8B-B14F-4D97-AF65-F5344CB8AC3E}">
        <p14:creationId xmlns:p14="http://schemas.microsoft.com/office/powerpoint/2010/main" val="1872126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47E55CA4-8F42-4B35-9FD4-C26BFDF6DFC5}" type="slidenum">
              <a:rPr lang="nl-NL" smtClean="0"/>
              <a:t>4</a:t>
            </a:fld>
            <a:endParaRPr lang="nl-NL"/>
          </a:p>
        </p:txBody>
      </p:sp>
    </p:spTree>
    <p:extLst>
      <p:ext uri="{BB962C8B-B14F-4D97-AF65-F5344CB8AC3E}">
        <p14:creationId xmlns:p14="http://schemas.microsoft.com/office/powerpoint/2010/main" val="1936050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D51FA0-FFC9-FA47-996C-D61BBE3E9AB5}"/>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BD092CF1-4D9D-0848-995F-9E7154F2FC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B5240CC6-986C-1842-B58C-AF908DADBB52}"/>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5" name="Tijdelijke aanduiding voor voettekst 4">
            <a:extLst>
              <a:ext uri="{FF2B5EF4-FFF2-40B4-BE49-F238E27FC236}">
                <a16:creationId xmlns:a16="http://schemas.microsoft.com/office/drawing/2014/main" id="{76124CB3-9584-0D45-A10A-93C2CDEF52F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4CCA6C9C-B806-9246-A348-8D4B6F1EAD05}"/>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3813127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A33AE8-DDF0-BF40-9D2F-3497C879DA87}"/>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AF037B99-1A8B-2B41-A718-99B999C0ACD5}"/>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7E1D2EA-6D79-7747-AE02-9F6FB7753503}"/>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5" name="Tijdelijke aanduiding voor voettekst 4">
            <a:extLst>
              <a:ext uri="{FF2B5EF4-FFF2-40B4-BE49-F238E27FC236}">
                <a16:creationId xmlns:a16="http://schemas.microsoft.com/office/drawing/2014/main" id="{B53166EB-B895-374C-B8F4-C38A653ECB50}"/>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4F37680-E2C0-B04F-9F59-4FC17EB321EF}"/>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4026102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EAB58F-3E44-044F-AE8D-5066ACFF6DC4}"/>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59F0704A-D93A-E146-BECE-B0130C8614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02882CBA-4D03-F742-86FA-E1BA80BB6CC7}"/>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5" name="Tijdelijke aanduiding voor voettekst 4">
            <a:extLst>
              <a:ext uri="{FF2B5EF4-FFF2-40B4-BE49-F238E27FC236}">
                <a16:creationId xmlns:a16="http://schemas.microsoft.com/office/drawing/2014/main" id="{A0A8494F-0539-A64A-8CED-94066C51F87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21337300-A50C-7A48-9C83-D6FA57B1E407}"/>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4002636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84D69E-4894-CC4D-ABD0-7EA61BEC1B2A}"/>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2B56762D-ED34-5941-B453-AE3DB086799D}"/>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4596456A-46DE-F941-A35E-0E837C12C34A}"/>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9BF9EFCF-30C7-DB4E-97F7-727CD738F513}"/>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6" name="Tijdelijke aanduiding voor voettekst 5">
            <a:extLst>
              <a:ext uri="{FF2B5EF4-FFF2-40B4-BE49-F238E27FC236}">
                <a16:creationId xmlns:a16="http://schemas.microsoft.com/office/drawing/2014/main" id="{34DA7AC5-DFB8-0F49-B56A-D9E442715ECC}"/>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AD9FFF6-3C92-624E-9125-F4826956C62D}"/>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3262575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483C8BF-92C8-1344-9189-77A2F65D9AD6}"/>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F947D645-0528-B549-BB78-0434E9081D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DF50B43E-8F63-4143-B452-39FCDBD75CEF}"/>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6B8E6713-B304-1049-993C-D38E0B8C99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EBC6E8E2-112A-3641-9A32-A43265AF21BD}"/>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B227EC53-FC10-B042-A4B0-C17410B333C6}"/>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8" name="Tijdelijke aanduiding voor voettekst 7">
            <a:extLst>
              <a:ext uri="{FF2B5EF4-FFF2-40B4-BE49-F238E27FC236}">
                <a16:creationId xmlns:a16="http://schemas.microsoft.com/office/drawing/2014/main" id="{8EE59E46-C297-E442-8B8F-8443BC90FE78}"/>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3CFA553B-B2B9-DF41-BEBE-E87234A47FD2}"/>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2735899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26E8EB-F630-374B-94BB-C0F23006CB07}"/>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45596BA2-3A37-CB4F-B21A-BF06C64BF142}"/>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4" name="Tijdelijke aanduiding voor voettekst 3">
            <a:extLst>
              <a:ext uri="{FF2B5EF4-FFF2-40B4-BE49-F238E27FC236}">
                <a16:creationId xmlns:a16="http://schemas.microsoft.com/office/drawing/2014/main" id="{60DEAC70-5963-8248-884F-E8102E8A80C6}"/>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DD244D1F-292B-D341-A841-2D45FF7FE8D0}"/>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1281950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109DEB1D-90AB-0F44-AAA0-E574BF88DA30}"/>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3" name="Tijdelijke aanduiding voor voettekst 2">
            <a:extLst>
              <a:ext uri="{FF2B5EF4-FFF2-40B4-BE49-F238E27FC236}">
                <a16:creationId xmlns:a16="http://schemas.microsoft.com/office/drawing/2014/main" id="{4358959F-34F0-C244-A824-46C06C82A196}"/>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5CA08F95-BA98-4E46-859E-B19BCA3506EA}"/>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3135813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3EF37C-4DFA-BA44-A9AD-BECBF581D8B0}"/>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F0174ABE-3BD9-764B-A30B-32E174D446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C9456318-5AFD-6D42-BFBD-6122B38B50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35209AC9-A099-C645-9918-05C487FCFFD2}"/>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6" name="Tijdelijke aanduiding voor voettekst 5">
            <a:extLst>
              <a:ext uri="{FF2B5EF4-FFF2-40B4-BE49-F238E27FC236}">
                <a16:creationId xmlns:a16="http://schemas.microsoft.com/office/drawing/2014/main" id="{A5D7B312-1BDC-D44B-A833-9EBF71F6BF6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F48B2D50-FDCC-3747-96BB-AE6A83B0AC59}"/>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1077184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5304A8-3284-0449-809A-47C365DF77C5}"/>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85DCFEFE-7270-9642-B9C6-EE43C3E999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00EB92B5-5BD4-EA45-96E0-30855160A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3C34B6F0-15B4-A642-8849-38DE17CFBC76}"/>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6" name="Tijdelijke aanduiding voor voettekst 5">
            <a:extLst>
              <a:ext uri="{FF2B5EF4-FFF2-40B4-BE49-F238E27FC236}">
                <a16:creationId xmlns:a16="http://schemas.microsoft.com/office/drawing/2014/main" id="{8E9632AE-C1AE-CB49-A774-DFAF2E8D465B}"/>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0AFBEC69-0B21-CF43-AC25-0AC40D489A3A}"/>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3396041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008285-64E2-4A41-8A1E-7967613401D9}"/>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B0A60E62-C3BC-A44A-80D6-F9F92E3C9FA5}"/>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E37D41D7-FE07-D844-8062-94B4C4A1687D}"/>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5" name="Tijdelijke aanduiding voor voettekst 4">
            <a:extLst>
              <a:ext uri="{FF2B5EF4-FFF2-40B4-BE49-F238E27FC236}">
                <a16:creationId xmlns:a16="http://schemas.microsoft.com/office/drawing/2014/main" id="{F5829B9D-FF37-E34D-8B7A-FD7B1F50DA7A}"/>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9F86DC6-A3B6-6348-A110-65CBCFCBC416}"/>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886953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F2526867-5E0F-064B-A6CB-27F037597E32}"/>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9C6422E4-5830-B641-ACAA-F67827AF63DA}"/>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657BE67A-3DAE-2245-A187-D77BD4C0DCF4}"/>
              </a:ext>
            </a:extLst>
          </p:cNvPr>
          <p:cNvSpPr>
            <a:spLocks noGrp="1"/>
          </p:cNvSpPr>
          <p:nvPr>
            <p:ph type="dt" sz="half" idx="10"/>
          </p:nvPr>
        </p:nvSpPr>
        <p:spPr/>
        <p:txBody>
          <a:bodyPr/>
          <a:lstStyle/>
          <a:p>
            <a:fld id="{5735944C-6DAD-8441-9E2B-B7DB61906421}" type="datetimeFigureOut">
              <a:rPr lang="nl-NL" smtClean="0"/>
              <a:t>31-8-2026</a:t>
            </a:fld>
            <a:endParaRPr lang="nl-NL"/>
          </a:p>
        </p:txBody>
      </p:sp>
      <p:sp>
        <p:nvSpPr>
          <p:cNvPr id="5" name="Tijdelijke aanduiding voor voettekst 4">
            <a:extLst>
              <a:ext uri="{FF2B5EF4-FFF2-40B4-BE49-F238E27FC236}">
                <a16:creationId xmlns:a16="http://schemas.microsoft.com/office/drawing/2014/main" id="{2CD72C97-5552-BF4D-ABA5-2D55FCD9D5C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E7C8C99-9DF0-3246-B79D-288A293E4A66}"/>
              </a:ext>
            </a:extLst>
          </p:cNvPr>
          <p:cNvSpPr>
            <a:spLocks noGrp="1"/>
          </p:cNvSpPr>
          <p:nvPr>
            <p:ph type="sldNum" sz="quarter" idx="12"/>
          </p:nvPr>
        </p:nvSpPr>
        <p:spPr/>
        <p:txBody>
          <a:bodyPr/>
          <a:lstStyle/>
          <a:p>
            <a:fld id="{8CFE0EDC-8E46-D145-A8F3-05BF0B660CB0}" type="slidenum">
              <a:rPr lang="nl-NL" smtClean="0"/>
              <a:t>‹nr.›</a:t>
            </a:fld>
            <a:endParaRPr lang="nl-NL"/>
          </a:p>
        </p:txBody>
      </p:sp>
    </p:spTree>
    <p:extLst>
      <p:ext uri="{BB962C8B-B14F-4D97-AF65-F5344CB8AC3E}">
        <p14:creationId xmlns:p14="http://schemas.microsoft.com/office/powerpoint/2010/main" val="14914638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30408575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4136690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1963118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24650813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25337511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446222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587669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11489495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20121616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8990612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11EAACC7-3B3F-47D1-959A-EF58926E955E}" type="datetimeFigureOut">
              <a:rPr lang="en-US" smtClean="0"/>
              <a:t>8/31/2026</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312CC964-A50B-4C29-B4E4-2C30BB34CCF3}" type="slidenum">
              <a:rPr lang="en-US" smtClean="0"/>
              <a:t>‹nr.›</a:t>
            </a:fld>
            <a:endParaRPr lang="en-US"/>
          </a:p>
        </p:txBody>
      </p:sp>
    </p:spTree>
    <p:extLst>
      <p:ext uri="{BB962C8B-B14F-4D97-AF65-F5344CB8AC3E}">
        <p14:creationId xmlns:p14="http://schemas.microsoft.com/office/powerpoint/2010/main" val="3946983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03878355-9012-F046-AF60-FE4E6E8198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5E9FCA48-70C0-E343-9BC1-67B19922E9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68FC1DA5-E671-5443-9A9D-85299D3ACA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35944C-6DAD-8441-9E2B-B7DB61906421}" type="datetimeFigureOut">
              <a:rPr lang="nl-NL" smtClean="0"/>
              <a:t>31-8-2026</a:t>
            </a:fld>
            <a:endParaRPr lang="nl-NL"/>
          </a:p>
        </p:txBody>
      </p:sp>
      <p:sp>
        <p:nvSpPr>
          <p:cNvPr id="5" name="Tijdelijke aanduiding voor voettekst 4">
            <a:extLst>
              <a:ext uri="{FF2B5EF4-FFF2-40B4-BE49-F238E27FC236}">
                <a16:creationId xmlns:a16="http://schemas.microsoft.com/office/drawing/2014/main" id="{291E7B43-88F1-C54F-900B-27D4DE56A5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Tijdelijke aanduiding voor dianummer 5">
            <a:extLst>
              <a:ext uri="{FF2B5EF4-FFF2-40B4-BE49-F238E27FC236}">
                <a16:creationId xmlns:a16="http://schemas.microsoft.com/office/drawing/2014/main" id="{5AE5FFA5-A70B-3544-BED8-DDA4C30724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FE0EDC-8E46-D145-A8F3-05BF0B660CB0}" type="slidenum">
              <a:rPr lang="nl-NL" smtClean="0"/>
              <a:t>‹nr.›</a:t>
            </a:fld>
            <a:endParaRPr lang="nl-NL"/>
          </a:p>
        </p:txBody>
      </p:sp>
    </p:spTree>
    <p:extLst>
      <p:ext uri="{BB962C8B-B14F-4D97-AF65-F5344CB8AC3E}">
        <p14:creationId xmlns:p14="http://schemas.microsoft.com/office/powerpoint/2010/main" val="11717929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11EAACC7-3B3F-47D1-959A-EF58926E955E}" type="datetimeFigureOut">
              <a:rPr lang="en-US" smtClean="0"/>
              <a:t>8/31/2026</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312CC964-A50B-4C29-B4E4-2C30BB34CCF3}" type="slidenum">
              <a:rPr lang="en-US" smtClean="0"/>
              <a:t>‹nr.›</a:t>
            </a:fld>
            <a:endParaRPr lang="en-US"/>
          </a:p>
        </p:txBody>
      </p:sp>
    </p:spTree>
    <p:extLst>
      <p:ext uri="{BB962C8B-B14F-4D97-AF65-F5344CB8AC3E}">
        <p14:creationId xmlns:p14="http://schemas.microsoft.com/office/powerpoint/2010/main" val="1664352770"/>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50" r:id="rId6"/>
    <p:sldLayoutId id="2147483745" r:id="rId7"/>
    <p:sldLayoutId id="2147483746" r:id="rId8"/>
    <p:sldLayoutId id="2147483747" r:id="rId9"/>
    <p:sldLayoutId id="2147483749" r:id="rId10"/>
    <p:sldLayoutId id="2147483748" r:id="rId11"/>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Afbeelding 4" descr="Afbeelding met tekst, binnen, kantoorartikelen&#10;&#10;Automatisch gegenereerde beschrijving">
            <a:extLst>
              <a:ext uri="{FF2B5EF4-FFF2-40B4-BE49-F238E27FC236}">
                <a16:creationId xmlns:a16="http://schemas.microsoft.com/office/drawing/2014/main" id="{A0DEBCFB-5F7A-914C-BAF1-2486C05905D4}"/>
              </a:ext>
            </a:extLst>
          </p:cNvPr>
          <p:cNvPicPr>
            <a:picLocks noChangeAspect="1"/>
          </p:cNvPicPr>
          <p:nvPr/>
        </p:nvPicPr>
        <p:blipFill rotWithShape="1">
          <a:blip r:embed="rId2"/>
          <a:srcRect b="15730"/>
          <a:stretch/>
        </p:blipFill>
        <p:spPr>
          <a:xfrm>
            <a:off x="20" y="10"/>
            <a:ext cx="12191980" cy="6857990"/>
          </a:xfrm>
          <a:prstGeom prst="rect">
            <a:avLst/>
          </a:prstGeom>
        </p:spPr>
      </p:pic>
      <p:sp>
        <p:nvSpPr>
          <p:cNvPr id="10"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el 1">
            <a:extLst>
              <a:ext uri="{FF2B5EF4-FFF2-40B4-BE49-F238E27FC236}">
                <a16:creationId xmlns:a16="http://schemas.microsoft.com/office/drawing/2014/main" id="{37E8D111-478C-B24D-90C3-1C20A86243C1}"/>
              </a:ext>
            </a:extLst>
          </p:cNvPr>
          <p:cNvSpPr>
            <a:spLocks noGrp="1"/>
          </p:cNvSpPr>
          <p:nvPr>
            <p:ph type="ctrTitle"/>
          </p:nvPr>
        </p:nvSpPr>
        <p:spPr>
          <a:xfrm>
            <a:off x="8022021" y="3231931"/>
            <a:ext cx="3852041" cy="1834056"/>
          </a:xfrm>
        </p:spPr>
        <p:txBody>
          <a:bodyPr>
            <a:normAutofit/>
          </a:bodyPr>
          <a:lstStyle/>
          <a:p>
            <a:r>
              <a:rPr lang="nl-NL" sz="4000" dirty="0"/>
              <a:t>Plattegrond tekenen</a:t>
            </a:r>
          </a:p>
        </p:txBody>
      </p:sp>
      <p:sp>
        <p:nvSpPr>
          <p:cNvPr id="3" name="Ondertitel 2">
            <a:extLst>
              <a:ext uri="{FF2B5EF4-FFF2-40B4-BE49-F238E27FC236}">
                <a16:creationId xmlns:a16="http://schemas.microsoft.com/office/drawing/2014/main" id="{1BA03199-C76D-0B48-81E7-78C2C6029C40}"/>
              </a:ext>
            </a:extLst>
          </p:cNvPr>
          <p:cNvSpPr>
            <a:spLocks noGrp="1"/>
          </p:cNvSpPr>
          <p:nvPr>
            <p:ph type="subTitle" idx="1"/>
          </p:nvPr>
        </p:nvSpPr>
        <p:spPr>
          <a:xfrm>
            <a:off x="7782910" y="5242675"/>
            <a:ext cx="4330262" cy="683284"/>
          </a:xfrm>
        </p:spPr>
        <p:txBody>
          <a:bodyPr vert="horz" lIns="91440" tIns="45720" rIns="91440" bIns="45720" rtlCol="0" anchor="t">
            <a:normAutofit/>
          </a:bodyPr>
          <a:lstStyle/>
          <a:p>
            <a:r>
              <a:rPr lang="nl-NL" sz="2000" dirty="0"/>
              <a:t>Mavo 3</a:t>
            </a:r>
          </a:p>
        </p:txBody>
      </p:sp>
      <p:cxnSp>
        <p:nvCxnSpPr>
          <p:cNvPr id="12" name="Straight Connector 11">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46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Afbeelding 4">
            <a:extLst>
              <a:ext uri="{FF2B5EF4-FFF2-40B4-BE49-F238E27FC236}">
                <a16:creationId xmlns:a16="http://schemas.microsoft.com/office/drawing/2014/main" id="{336773F0-C09A-1C40-A963-59CCEA24584C}"/>
              </a:ext>
            </a:extLst>
          </p:cNvPr>
          <p:cNvPicPr>
            <a:picLocks noChangeAspect="1"/>
          </p:cNvPicPr>
          <p:nvPr/>
        </p:nvPicPr>
        <p:blipFill rotWithShape="1">
          <a:blip r:embed="rId2"/>
          <a:srcRect r="23298" b="9091"/>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DB084F98-7700-DA4E-B2B5-023BA396E094}"/>
              </a:ext>
            </a:extLst>
          </p:cNvPr>
          <p:cNvSpPr>
            <a:spLocks noGrp="1"/>
          </p:cNvSpPr>
          <p:nvPr>
            <p:ph type="title"/>
          </p:nvPr>
        </p:nvSpPr>
        <p:spPr>
          <a:xfrm>
            <a:off x="371094" y="1161288"/>
            <a:ext cx="3438144" cy="1124712"/>
          </a:xfrm>
        </p:spPr>
        <p:txBody>
          <a:bodyPr anchor="b">
            <a:normAutofit/>
          </a:bodyPr>
          <a:lstStyle/>
          <a:p>
            <a:r>
              <a:rPr lang="nl-NL" sz="2800"/>
              <a:t>Leerdoelen</a:t>
            </a:r>
          </a:p>
        </p:txBody>
      </p:sp>
      <p:sp>
        <p:nvSpPr>
          <p:cNvPr id="14" name="Rectangle 13">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jdelijke aanduiding voor inhoud 2">
            <a:extLst>
              <a:ext uri="{FF2B5EF4-FFF2-40B4-BE49-F238E27FC236}">
                <a16:creationId xmlns:a16="http://schemas.microsoft.com/office/drawing/2014/main" id="{FC9CF429-E546-5641-806E-692E3AD73783}"/>
              </a:ext>
            </a:extLst>
          </p:cNvPr>
          <p:cNvSpPr>
            <a:spLocks noGrp="1"/>
          </p:cNvSpPr>
          <p:nvPr>
            <p:ph idx="1"/>
          </p:nvPr>
        </p:nvSpPr>
        <p:spPr>
          <a:xfrm>
            <a:off x="371094" y="2718054"/>
            <a:ext cx="3438906" cy="3207258"/>
          </a:xfrm>
        </p:spPr>
        <p:txBody>
          <a:bodyPr anchor="t">
            <a:normAutofit/>
          </a:bodyPr>
          <a:lstStyle/>
          <a:p>
            <a:pPr marL="0" indent="0">
              <a:buNone/>
            </a:pPr>
            <a:r>
              <a:rPr lang="nl-NL" sz="1700"/>
              <a:t>Je leert… </a:t>
            </a:r>
          </a:p>
          <a:p>
            <a:pPr>
              <a:buFontTx/>
              <a:buChar char="-"/>
            </a:pPr>
            <a:r>
              <a:rPr lang="nl-NL" sz="1700"/>
              <a:t>Plattegronden tekenen</a:t>
            </a:r>
          </a:p>
          <a:p>
            <a:pPr>
              <a:buFontTx/>
              <a:buChar char="-"/>
            </a:pPr>
            <a:r>
              <a:rPr lang="nl-NL" sz="1700"/>
              <a:t>Een plattegrond zo te tekenen, zodat een vakmensen jou ontwerp kunnen begrijpen</a:t>
            </a:r>
          </a:p>
          <a:p>
            <a:pPr>
              <a:buFontTx/>
              <a:buChar char="-"/>
            </a:pPr>
            <a:r>
              <a:rPr lang="nl-NL" sz="1700"/>
              <a:t>Op schaal tekenen</a:t>
            </a:r>
          </a:p>
          <a:p>
            <a:pPr>
              <a:buFontTx/>
              <a:buChar char="-"/>
            </a:pPr>
            <a:endParaRPr lang="nl-NL" sz="1700"/>
          </a:p>
        </p:txBody>
      </p:sp>
    </p:spTree>
    <p:extLst>
      <p:ext uri="{BB962C8B-B14F-4D97-AF65-F5344CB8AC3E}">
        <p14:creationId xmlns:p14="http://schemas.microsoft.com/office/powerpoint/2010/main" val="2660018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96D7B522-9D2D-424C-96CB-29309D18AFD0}"/>
              </a:ext>
            </a:extLst>
          </p:cNvPr>
          <p:cNvSpPr>
            <a:spLocks noGrp="1"/>
          </p:cNvSpPr>
          <p:nvPr>
            <p:ph type="title"/>
          </p:nvPr>
        </p:nvSpPr>
        <p:spPr>
          <a:xfrm>
            <a:off x="1115568" y="548640"/>
            <a:ext cx="10168128" cy="1179576"/>
          </a:xfrm>
        </p:spPr>
        <p:txBody>
          <a:bodyPr>
            <a:normAutofit/>
          </a:bodyPr>
          <a:lstStyle/>
          <a:p>
            <a:r>
              <a:rPr lang="nl-NL" sz="4000"/>
              <a:t>Waarom leer je dit?</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ijdelijke aanduiding voor inhoud 2">
            <a:extLst>
              <a:ext uri="{FF2B5EF4-FFF2-40B4-BE49-F238E27FC236}">
                <a16:creationId xmlns:a16="http://schemas.microsoft.com/office/drawing/2014/main" id="{87C1C743-2513-4F4B-8867-CEAC0DD62614}"/>
              </a:ext>
            </a:extLst>
          </p:cNvPr>
          <p:cNvSpPr>
            <a:spLocks noGrp="1"/>
          </p:cNvSpPr>
          <p:nvPr>
            <p:ph idx="1"/>
          </p:nvPr>
        </p:nvSpPr>
        <p:spPr>
          <a:xfrm>
            <a:off x="1115568" y="2481943"/>
            <a:ext cx="10168128" cy="3695020"/>
          </a:xfrm>
        </p:spPr>
        <p:txBody>
          <a:bodyPr>
            <a:normAutofit/>
          </a:bodyPr>
          <a:lstStyle/>
          <a:p>
            <a:pPr marL="0" indent="0">
              <a:buNone/>
            </a:pPr>
            <a:r>
              <a:rPr lang="nl-NL" sz="1900"/>
              <a:t>In de technische wereld heb je verschillende beroepen waarbij je technisch moet kunnen tekenen. Technisch tekenen kun je doen via de computer, maar ook met de hand. </a:t>
            </a:r>
          </a:p>
          <a:p>
            <a:pPr marL="0" indent="0">
              <a:buNone/>
            </a:pPr>
            <a:endParaRPr lang="nl-NL" sz="1900"/>
          </a:p>
          <a:p>
            <a:pPr marL="0" indent="0">
              <a:buNone/>
            </a:pPr>
            <a:r>
              <a:rPr lang="nl-NL" sz="1900"/>
              <a:t>Vaak worden tekeningen eerst met de hand gemaakt en vervolgens uitgewerkt met behulp van een computer. </a:t>
            </a:r>
          </a:p>
          <a:p>
            <a:pPr marL="0" indent="0">
              <a:buNone/>
            </a:pPr>
            <a:endParaRPr lang="nl-NL" sz="1900"/>
          </a:p>
          <a:p>
            <a:pPr marL="0" indent="0">
              <a:buNone/>
            </a:pPr>
            <a:r>
              <a:rPr lang="nl-NL" sz="1900"/>
              <a:t>Met deze tekeningen..</a:t>
            </a:r>
          </a:p>
          <a:p>
            <a:pPr>
              <a:buFontTx/>
              <a:buChar char="-"/>
            </a:pPr>
            <a:r>
              <a:rPr lang="nl-NL" sz="1900"/>
              <a:t>Geef je een indicatie van jouw idee</a:t>
            </a:r>
          </a:p>
          <a:p>
            <a:pPr>
              <a:buFontTx/>
              <a:buChar char="-"/>
            </a:pPr>
            <a:r>
              <a:rPr lang="nl-NL" sz="1900"/>
              <a:t>Is het ontwerp al gebaseerd op echte maten </a:t>
            </a:r>
          </a:p>
          <a:p>
            <a:pPr>
              <a:buFontTx/>
              <a:buChar char="-"/>
            </a:pPr>
            <a:r>
              <a:rPr lang="nl-NL" sz="1900"/>
              <a:t>Geef je een sfeerbeeld aan </a:t>
            </a:r>
          </a:p>
          <a:p>
            <a:pPr marL="0" indent="0">
              <a:buNone/>
            </a:pPr>
            <a:endParaRPr lang="nl-NL" sz="1900"/>
          </a:p>
        </p:txBody>
      </p:sp>
    </p:spTree>
    <p:extLst>
      <p:ext uri="{BB962C8B-B14F-4D97-AF65-F5344CB8AC3E}">
        <p14:creationId xmlns:p14="http://schemas.microsoft.com/office/powerpoint/2010/main" val="1419993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EBD82EB3-A747-9D4F-B3E3-92223BCBD0BB}"/>
              </a:ext>
            </a:extLst>
          </p:cNvPr>
          <p:cNvSpPr>
            <a:spLocks noGrp="1"/>
          </p:cNvSpPr>
          <p:nvPr>
            <p:ph type="title"/>
          </p:nvPr>
        </p:nvSpPr>
        <p:spPr>
          <a:xfrm>
            <a:off x="1115568" y="548640"/>
            <a:ext cx="10168128" cy="1179576"/>
          </a:xfrm>
        </p:spPr>
        <p:txBody>
          <a:bodyPr>
            <a:normAutofit/>
          </a:bodyPr>
          <a:lstStyle/>
          <a:p>
            <a:r>
              <a:rPr lang="nl-NL" sz="4000"/>
              <a:t>Wat ga je doen?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ijdelijke aanduiding voor inhoud 2">
            <a:extLst>
              <a:ext uri="{FF2B5EF4-FFF2-40B4-BE49-F238E27FC236}">
                <a16:creationId xmlns:a16="http://schemas.microsoft.com/office/drawing/2014/main" id="{7D313736-98BA-C541-ADDD-3CB66F2E3333}"/>
              </a:ext>
            </a:extLst>
          </p:cNvPr>
          <p:cNvSpPr>
            <a:spLocks noGrp="1"/>
          </p:cNvSpPr>
          <p:nvPr>
            <p:ph idx="1"/>
          </p:nvPr>
        </p:nvSpPr>
        <p:spPr>
          <a:xfrm>
            <a:off x="1115568" y="2481943"/>
            <a:ext cx="10168128" cy="3695020"/>
          </a:xfrm>
        </p:spPr>
        <p:txBody>
          <a:bodyPr>
            <a:normAutofit/>
          </a:bodyPr>
          <a:lstStyle/>
          <a:p>
            <a:pPr marL="0" indent="0">
              <a:buNone/>
            </a:pPr>
            <a:r>
              <a:rPr lang="nl-NL" sz="2200" dirty="0"/>
              <a:t>Je gaat de benedenverdieping van jullie huis opmeten.(alleen woonkamer + keuken)     Je gaat de ruimtes op een A4-papier tekenen. </a:t>
            </a:r>
          </a:p>
          <a:p>
            <a:pPr marL="0" indent="0">
              <a:buNone/>
            </a:pPr>
            <a:endParaRPr lang="nl-NL" sz="2200" dirty="0"/>
          </a:p>
          <a:p>
            <a:r>
              <a:rPr lang="nl-NL" sz="2200" dirty="0"/>
              <a:t>Je gebruikt één papier voor de woonkamer + keuken  ( 2 vellen wanneer ze niet aan elkaar vast zitten)</a:t>
            </a:r>
          </a:p>
          <a:p>
            <a:r>
              <a:rPr lang="nl-NL" sz="2200" dirty="0"/>
              <a:t>Per ruimte geef je de maten aan</a:t>
            </a:r>
          </a:p>
          <a:p>
            <a:r>
              <a:rPr lang="nl-NL" sz="2200" dirty="0"/>
              <a:t>Muren, deuren en ramen zijn duidelijk aangegeven + keukenindeling ( meubels mag)</a:t>
            </a:r>
          </a:p>
        </p:txBody>
      </p:sp>
    </p:spTree>
    <p:extLst>
      <p:ext uri="{BB962C8B-B14F-4D97-AF65-F5344CB8AC3E}">
        <p14:creationId xmlns:p14="http://schemas.microsoft.com/office/powerpoint/2010/main" val="88492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18">
            <a:extLst>
              <a:ext uri="{FF2B5EF4-FFF2-40B4-BE49-F238E27FC236}">
                <a16:creationId xmlns:a16="http://schemas.microsoft.com/office/drawing/2014/main" id="{D2854001-B4AF-4E18-9D2E-33E37F97A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4E6E04D-4E08-E24A-A09A-3E7178613239}"/>
              </a:ext>
            </a:extLst>
          </p:cNvPr>
          <p:cNvSpPr>
            <a:spLocks noGrp="1"/>
          </p:cNvSpPr>
          <p:nvPr>
            <p:ph type="title"/>
          </p:nvPr>
        </p:nvSpPr>
        <p:spPr>
          <a:xfrm>
            <a:off x="612648" y="1078992"/>
            <a:ext cx="6268770" cy="1536192"/>
          </a:xfrm>
        </p:spPr>
        <p:txBody>
          <a:bodyPr anchor="b">
            <a:normAutofit/>
          </a:bodyPr>
          <a:lstStyle/>
          <a:p>
            <a:r>
              <a:rPr lang="nl-NL" sz="5200"/>
              <a:t>Opdracht 1 (huiswerk)</a:t>
            </a:r>
            <a:endParaRPr lang="nl-NL" sz="5200" dirty="0">
              <a:cs typeface="Calibri Light"/>
            </a:endParaRPr>
          </a:p>
        </p:txBody>
      </p:sp>
      <p:sp>
        <p:nvSpPr>
          <p:cNvPr id="28" name="Rectangle 20">
            <a:extLst>
              <a:ext uri="{FF2B5EF4-FFF2-40B4-BE49-F238E27FC236}">
                <a16:creationId xmlns:a16="http://schemas.microsoft.com/office/drawing/2014/main" id="{8AEA628B-C8FF-4D0B-B111-F101F580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3202"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2">
            <a:extLst>
              <a:ext uri="{FF2B5EF4-FFF2-40B4-BE49-F238E27FC236}">
                <a16:creationId xmlns:a16="http://schemas.microsoft.com/office/drawing/2014/main" id="{42663BD0-064C-40FC-A331-F49FCA953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06" y="2935541"/>
            <a:ext cx="62179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ijdelijke aanduiding voor inhoud 2">
            <a:extLst>
              <a:ext uri="{FF2B5EF4-FFF2-40B4-BE49-F238E27FC236}">
                <a16:creationId xmlns:a16="http://schemas.microsoft.com/office/drawing/2014/main" id="{C738F2D5-1F9B-1C4F-9484-050DFD5033C0}"/>
              </a:ext>
            </a:extLst>
          </p:cNvPr>
          <p:cNvSpPr>
            <a:spLocks noGrp="1"/>
          </p:cNvSpPr>
          <p:nvPr>
            <p:ph idx="1"/>
          </p:nvPr>
        </p:nvSpPr>
        <p:spPr>
          <a:xfrm>
            <a:off x="639270" y="3355848"/>
            <a:ext cx="6244957" cy="2825496"/>
          </a:xfrm>
        </p:spPr>
        <p:txBody>
          <a:bodyPr vert="horz" lIns="91440" tIns="45720" rIns="91440" bIns="45720" rtlCol="0" anchor="t">
            <a:normAutofit lnSpcReduction="10000"/>
          </a:bodyPr>
          <a:lstStyle/>
          <a:p>
            <a:pPr marL="0" indent="0">
              <a:buNone/>
            </a:pPr>
            <a:r>
              <a:rPr lang="nl-NL" sz="2000" dirty="0"/>
              <a:t>Meet je beneden verdieping op. Teken snel uit hoe de benedenverdieping in elkaar zit en schrijf de maten in cm erbij. Let op bijzonderheden ramen/deuren/vormen/meubels etc. </a:t>
            </a:r>
          </a:p>
          <a:p>
            <a:pPr marL="0" indent="0">
              <a:buNone/>
            </a:pPr>
            <a:endParaRPr lang="nl-NL" sz="2000" dirty="0"/>
          </a:p>
          <a:p>
            <a:pPr marL="0" indent="0">
              <a:buNone/>
            </a:pPr>
            <a:r>
              <a:rPr lang="nl-NL" sz="2000" dirty="0"/>
              <a:t>Maak een foto van jouw schets, waarop je de benedenverdieping hebt getekend en een foto waarop ik kan zien dat dit jouw huis is in via:</a:t>
            </a:r>
            <a:endParaRPr lang="nl-NL" sz="2000" dirty="0">
              <a:cs typeface="Calibri"/>
            </a:endParaRPr>
          </a:p>
          <a:p>
            <a:pPr marL="0" indent="0">
              <a:buNone/>
            </a:pPr>
            <a:r>
              <a:rPr lang="nl-NL" sz="2000" dirty="0">
                <a:cs typeface="Calibri"/>
              </a:rPr>
              <a:t>Magister --&gt; plattegrond slaapkamer</a:t>
            </a:r>
            <a:endParaRPr lang="nl-NL" sz="2000" dirty="0">
              <a:ea typeface="Calibri"/>
              <a:cs typeface="Calibri"/>
            </a:endParaRPr>
          </a:p>
        </p:txBody>
      </p:sp>
      <p:pic>
        <p:nvPicPr>
          <p:cNvPr id="5" name="Afbeelding 4">
            <a:extLst>
              <a:ext uri="{FF2B5EF4-FFF2-40B4-BE49-F238E27FC236}">
                <a16:creationId xmlns:a16="http://schemas.microsoft.com/office/drawing/2014/main" id="{06B3EB2D-75B7-1243-9A80-32214C5189CC}"/>
              </a:ext>
            </a:extLst>
          </p:cNvPr>
          <p:cNvPicPr>
            <a:picLocks noChangeAspect="1"/>
          </p:cNvPicPr>
          <p:nvPr/>
        </p:nvPicPr>
        <p:blipFill rotWithShape="1">
          <a:blip r:embed="rId2"/>
          <a:srcRect t="3946" r="3" b="18601"/>
          <a:stretch/>
        </p:blipFill>
        <p:spPr>
          <a:xfrm>
            <a:off x="7684007" y="603504"/>
            <a:ext cx="4050792" cy="5577840"/>
          </a:xfrm>
          <a:prstGeom prst="rect">
            <a:avLst/>
          </a:prstGeom>
        </p:spPr>
      </p:pic>
    </p:spTree>
    <p:extLst>
      <p:ext uri="{BB962C8B-B14F-4D97-AF65-F5344CB8AC3E}">
        <p14:creationId xmlns:p14="http://schemas.microsoft.com/office/powerpoint/2010/main" val="2545587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22250-799A-4AD0-9BD1-BE6EB7A06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B770432A-C0A6-4D4F-AE2C-705049DAB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el 1">
            <a:extLst>
              <a:ext uri="{FF2B5EF4-FFF2-40B4-BE49-F238E27FC236}">
                <a16:creationId xmlns:a16="http://schemas.microsoft.com/office/drawing/2014/main" id="{076CE0F7-2684-1D41-B0A9-D59A8187A2A9}"/>
              </a:ext>
            </a:extLst>
          </p:cNvPr>
          <p:cNvSpPr>
            <a:spLocks noGrp="1"/>
          </p:cNvSpPr>
          <p:nvPr>
            <p:ph type="title"/>
          </p:nvPr>
        </p:nvSpPr>
        <p:spPr>
          <a:xfrm>
            <a:off x="7218705" y="542926"/>
            <a:ext cx="4439894" cy="1668143"/>
          </a:xfrm>
        </p:spPr>
        <p:txBody>
          <a:bodyPr>
            <a:normAutofit/>
          </a:bodyPr>
          <a:lstStyle/>
          <a:p>
            <a:r>
              <a:rPr lang="nl-NL" sz="3700" i="0" dirty="0">
                <a:latin typeface="+mn-lt"/>
              </a:rPr>
              <a:t>Opdracht 2: de nette plattegrond</a:t>
            </a:r>
          </a:p>
        </p:txBody>
      </p:sp>
      <p:pic>
        <p:nvPicPr>
          <p:cNvPr id="4" name="Afbeelding 4" descr="Afbeelding met tekst, muur, binnen&#10;&#10;Automatisch gegenereerde beschrijving">
            <a:extLst>
              <a:ext uri="{FF2B5EF4-FFF2-40B4-BE49-F238E27FC236}">
                <a16:creationId xmlns:a16="http://schemas.microsoft.com/office/drawing/2014/main" id="{312F3160-DD5B-4D7C-9778-8CB2487E25EA}"/>
              </a:ext>
            </a:extLst>
          </p:cNvPr>
          <p:cNvPicPr>
            <a:picLocks noChangeAspect="1"/>
          </p:cNvPicPr>
          <p:nvPr/>
        </p:nvPicPr>
        <p:blipFill>
          <a:blip r:embed="rId2"/>
          <a:stretch>
            <a:fillRect/>
          </a:stretch>
        </p:blipFill>
        <p:spPr>
          <a:xfrm rot="16200000">
            <a:off x="1192156" y="793973"/>
            <a:ext cx="3952539" cy="5270053"/>
          </a:xfrm>
          <a:prstGeom prst="rect">
            <a:avLst/>
          </a:prstGeom>
        </p:spPr>
      </p:pic>
      <p:cxnSp>
        <p:nvCxnSpPr>
          <p:cNvPr id="14" name="Straight Connector 13">
            <a:extLst>
              <a:ext uri="{FF2B5EF4-FFF2-40B4-BE49-F238E27FC236}">
                <a16:creationId xmlns:a16="http://schemas.microsoft.com/office/drawing/2014/main" id="{78FBE787-8B1D-40E5-8468-6F665BB5D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AED48864-68F9-B94F-A2F3-8EC6F70C308F}"/>
              </a:ext>
            </a:extLst>
          </p:cNvPr>
          <p:cNvSpPr>
            <a:spLocks noGrp="1"/>
          </p:cNvSpPr>
          <p:nvPr>
            <p:ph idx="1"/>
          </p:nvPr>
        </p:nvSpPr>
        <p:spPr>
          <a:xfrm>
            <a:off x="7218706" y="2211069"/>
            <a:ext cx="4439894" cy="4113531"/>
          </a:xfrm>
        </p:spPr>
        <p:txBody>
          <a:bodyPr vert="horz" lIns="91440" tIns="45720" rIns="91440" bIns="45720" rtlCol="0">
            <a:normAutofit/>
          </a:bodyPr>
          <a:lstStyle/>
          <a:p>
            <a:pPr marL="0" indent="0">
              <a:buNone/>
            </a:pPr>
            <a:endParaRPr lang="nl-NL" baseline="30000" dirty="0"/>
          </a:p>
          <a:p>
            <a:pPr marL="0" indent="0">
              <a:buNone/>
            </a:pPr>
            <a:endParaRPr lang="nl-NL" dirty="0"/>
          </a:p>
        </p:txBody>
      </p:sp>
      <p:sp>
        <p:nvSpPr>
          <p:cNvPr id="5" name="Tekstvak 4">
            <a:extLst>
              <a:ext uri="{FF2B5EF4-FFF2-40B4-BE49-F238E27FC236}">
                <a16:creationId xmlns:a16="http://schemas.microsoft.com/office/drawing/2014/main" id="{173F101D-73A2-4A91-9317-7403C3B0C5C3}"/>
              </a:ext>
            </a:extLst>
          </p:cNvPr>
          <p:cNvSpPr txBox="1"/>
          <p:nvPr/>
        </p:nvSpPr>
        <p:spPr>
          <a:xfrm>
            <a:off x="7328127" y="2613025"/>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nl-NL" dirty="0"/>
              <a:t>Stap 1 </a:t>
            </a:r>
            <a:r>
              <a:rPr lang="nl-NL" dirty="0">
                <a:sym typeface="Wingdings" pitchFamily="2" charset="2"/>
              </a:rPr>
              <a:t></a:t>
            </a:r>
            <a:r>
              <a:rPr lang="nl-NL" dirty="0"/>
              <a:t>Teken eerst een kantlijn. Deze is 1 cm vanaf de kant. </a:t>
            </a:r>
          </a:p>
        </p:txBody>
      </p:sp>
    </p:spTree>
    <p:extLst>
      <p:ext uri="{BB962C8B-B14F-4D97-AF65-F5344CB8AC3E}">
        <p14:creationId xmlns:p14="http://schemas.microsoft.com/office/powerpoint/2010/main" val="462466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8222250-799A-4AD0-9BD1-BE6EB7A06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770432A-C0A6-4D4F-AE2C-705049DAB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Afbeelding 10">
            <a:extLst>
              <a:ext uri="{FF2B5EF4-FFF2-40B4-BE49-F238E27FC236}">
                <a16:creationId xmlns:a16="http://schemas.microsoft.com/office/drawing/2014/main" id="{36546CE6-F6DC-4C60-BB6E-93B96B54577E}"/>
              </a:ext>
            </a:extLst>
          </p:cNvPr>
          <p:cNvPicPr>
            <a:picLocks noChangeAspect="1"/>
          </p:cNvPicPr>
          <p:nvPr/>
        </p:nvPicPr>
        <p:blipFill>
          <a:blip r:embed="rId2"/>
          <a:stretch>
            <a:fillRect/>
          </a:stretch>
        </p:blipFill>
        <p:spPr>
          <a:xfrm rot="16200000">
            <a:off x="1192156" y="793973"/>
            <a:ext cx="3952539" cy="5270053"/>
          </a:xfrm>
          <a:prstGeom prst="rect">
            <a:avLst/>
          </a:prstGeom>
        </p:spPr>
      </p:pic>
      <p:cxnSp>
        <p:nvCxnSpPr>
          <p:cNvPr id="19" name="Straight Connector 18">
            <a:extLst>
              <a:ext uri="{FF2B5EF4-FFF2-40B4-BE49-F238E27FC236}">
                <a16:creationId xmlns:a16="http://schemas.microsoft.com/office/drawing/2014/main" id="{78FBE787-8B1D-40E5-8468-6F665BB5D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7" name="Tijdelijke aanduiding voor inhoud 6">
            <a:extLst>
              <a:ext uri="{FF2B5EF4-FFF2-40B4-BE49-F238E27FC236}">
                <a16:creationId xmlns:a16="http://schemas.microsoft.com/office/drawing/2014/main" id="{40C98CB9-92B7-4459-A572-3079E9C76DCD}"/>
              </a:ext>
            </a:extLst>
          </p:cNvPr>
          <p:cNvSpPr>
            <a:spLocks noGrp="1"/>
          </p:cNvSpPr>
          <p:nvPr>
            <p:ph idx="1"/>
          </p:nvPr>
        </p:nvSpPr>
        <p:spPr>
          <a:xfrm>
            <a:off x="7218706" y="2211069"/>
            <a:ext cx="4439894" cy="4113531"/>
          </a:xfrm>
        </p:spPr>
        <p:txBody>
          <a:bodyPr vert="horz" lIns="91440" tIns="45720" rIns="91440" bIns="45720" rtlCol="0">
            <a:normAutofit/>
          </a:bodyPr>
          <a:lstStyle/>
          <a:p>
            <a:pPr marL="0" indent="0">
              <a:buNone/>
            </a:pPr>
            <a:r>
              <a:rPr lang="nl-NL" dirty="0"/>
              <a:t>Stap 2 </a:t>
            </a:r>
            <a:r>
              <a:rPr lang="nl-NL" dirty="0">
                <a:sym typeface="Wingdings" pitchFamily="2" charset="2"/>
              </a:rPr>
              <a:t></a:t>
            </a:r>
            <a:r>
              <a:rPr lang="nl-NL" dirty="0"/>
              <a:t>Teken vervolgens het naamkaartje van jouw tekening. Zet hier je naam, ontwerp, schaal en klas in.  Het kaartje is 8 bij 4 cm. Deze teken je rechtsonder. </a:t>
            </a:r>
          </a:p>
          <a:p>
            <a:endParaRPr lang="nl-NL" dirty="0"/>
          </a:p>
          <a:p>
            <a:pPr marL="0" indent="0">
              <a:buNone/>
            </a:pPr>
            <a:endParaRPr lang="nl-NL" dirty="0"/>
          </a:p>
        </p:txBody>
      </p:sp>
    </p:spTree>
    <p:extLst>
      <p:ext uri="{BB962C8B-B14F-4D97-AF65-F5344CB8AC3E}">
        <p14:creationId xmlns:p14="http://schemas.microsoft.com/office/powerpoint/2010/main" val="300565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81775E6C-9FE7-4AE4-ABE7-2568D95DEA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23">
            <a:extLst>
              <a:ext uri="{FF2B5EF4-FFF2-40B4-BE49-F238E27FC236}">
                <a16:creationId xmlns:a16="http://schemas.microsoft.com/office/drawing/2014/main" id="{8CECB99A-E2AB-482F-A307-4879553101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31323" y="-5553"/>
            <a:ext cx="8860678" cy="6873308"/>
          </a:xfrm>
          <a:custGeom>
            <a:avLst/>
            <a:gdLst>
              <a:gd name="connsiteX0" fmla="*/ 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0 w 5803153"/>
              <a:gd name="connsiteY4" fmla="*/ 0 h 6857998"/>
              <a:gd name="connsiteX0" fmla="*/ 1016000 w 5803153"/>
              <a:gd name="connsiteY0" fmla="*/ 0 h 6857998"/>
              <a:gd name="connsiteX1" fmla="*/ 5803153 w 5803153"/>
              <a:gd name="connsiteY1" fmla="*/ 0 h 6857998"/>
              <a:gd name="connsiteX2" fmla="*/ 5803153 w 5803153"/>
              <a:gd name="connsiteY2" fmla="*/ 6857998 h 6857998"/>
              <a:gd name="connsiteX3" fmla="*/ 0 w 5803153"/>
              <a:gd name="connsiteY3" fmla="*/ 6857998 h 6857998"/>
              <a:gd name="connsiteX4" fmla="*/ 1016000 w 5803153"/>
              <a:gd name="connsiteY4" fmla="*/ 0 h 6857998"/>
              <a:gd name="connsiteX0" fmla="*/ 133872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338729 w 6125882"/>
              <a:gd name="connsiteY4" fmla="*/ 0 h 6857998"/>
              <a:gd name="connsiteX0" fmla="*/ 1697317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697317 w 6125882"/>
              <a:gd name="connsiteY4" fmla="*/ 0 h 6857998"/>
              <a:gd name="connsiteX0" fmla="*/ 2702091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2702091 w 6125882"/>
              <a:gd name="connsiteY4" fmla="*/ 0 h 6857998"/>
              <a:gd name="connsiteX0" fmla="*/ 1215089 w 6125882"/>
              <a:gd name="connsiteY0" fmla="*/ 0 h 6857998"/>
              <a:gd name="connsiteX1" fmla="*/ 6125882 w 6125882"/>
              <a:gd name="connsiteY1" fmla="*/ 0 h 6857998"/>
              <a:gd name="connsiteX2" fmla="*/ 6125882 w 6125882"/>
              <a:gd name="connsiteY2" fmla="*/ 6857998 h 6857998"/>
              <a:gd name="connsiteX3" fmla="*/ 0 w 6125882"/>
              <a:gd name="connsiteY3" fmla="*/ 6846045 h 6857998"/>
              <a:gd name="connsiteX4" fmla="*/ 1215089 w 6125882"/>
              <a:gd name="connsiteY4" fmla="*/ 0 h 6857998"/>
              <a:gd name="connsiteX0" fmla="*/ 1222204 w 6132997"/>
              <a:gd name="connsiteY0" fmla="*/ 0 h 6881904"/>
              <a:gd name="connsiteX1" fmla="*/ 6132997 w 6132997"/>
              <a:gd name="connsiteY1" fmla="*/ 0 h 6881904"/>
              <a:gd name="connsiteX2" fmla="*/ 6132997 w 6132997"/>
              <a:gd name="connsiteY2" fmla="*/ 6857998 h 6881904"/>
              <a:gd name="connsiteX3" fmla="*/ 0 w 6132997"/>
              <a:gd name="connsiteY3" fmla="*/ 6881904 h 6881904"/>
              <a:gd name="connsiteX4" fmla="*/ 1222204 w 6132997"/>
              <a:gd name="connsiteY4" fmla="*/ 0 h 6881904"/>
              <a:gd name="connsiteX0" fmla="*/ 1348644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348644 w 6132997"/>
              <a:gd name="connsiteY4" fmla="*/ 0 h 6893857"/>
              <a:gd name="connsiteX0" fmla="*/ 1457021 w 6132997"/>
              <a:gd name="connsiteY0" fmla="*/ 0 h 6893857"/>
              <a:gd name="connsiteX1" fmla="*/ 6132997 w 6132997"/>
              <a:gd name="connsiteY1" fmla="*/ 11953 h 6893857"/>
              <a:gd name="connsiteX2" fmla="*/ 6132997 w 6132997"/>
              <a:gd name="connsiteY2" fmla="*/ 6869951 h 6893857"/>
              <a:gd name="connsiteX3" fmla="*/ 0 w 6132997"/>
              <a:gd name="connsiteY3" fmla="*/ 6893857 h 6893857"/>
              <a:gd name="connsiteX4" fmla="*/ 1457021 w 6132997"/>
              <a:gd name="connsiteY4" fmla="*/ 0 h 6893857"/>
              <a:gd name="connsiteX0" fmla="*/ 1229836 w 5905812"/>
              <a:gd name="connsiteY0" fmla="*/ 0 h 6888661"/>
              <a:gd name="connsiteX1" fmla="*/ 5905812 w 5905812"/>
              <a:gd name="connsiteY1" fmla="*/ 11953 h 6888661"/>
              <a:gd name="connsiteX2" fmla="*/ 5905812 w 5905812"/>
              <a:gd name="connsiteY2" fmla="*/ 6869951 h 6888661"/>
              <a:gd name="connsiteX3" fmla="*/ 0 w 5905812"/>
              <a:gd name="connsiteY3" fmla="*/ 6888661 h 6888661"/>
              <a:gd name="connsiteX4" fmla="*/ 1229836 w 5905812"/>
              <a:gd name="connsiteY4" fmla="*/ 0 h 6888661"/>
              <a:gd name="connsiteX0" fmla="*/ 1156550 w 5832526"/>
              <a:gd name="connsiteY0" fmla="*/ 0 h 6883466"/>
              <a:gd name="connsiteX1" fmla="*/ 5832526 w 5832526"/>
              <a:gd name="connsiteY1" fmla="*/ 11953 h 6883466"/>
              <a:gd name="connsiteX2" fmla="*/ 5832526 w 5832526"/>
              <a:gd name="connsiteY2" fmla="*/ 6869951 h 6883466"/>
              <a:gd name="connsiteX3" fmla="*/ 0 w 5832526"/>
              <a:gd name="connsiteY3" fmla="*/ 6883466 h 6883466"/>
              <a:gd name="connsiteX4" fmla="*/ 1156550 w 5832526"/>
              <a:gd name="connsiteY4" fmla="*/ 0 h 6883466"/>
              <a:gd name="connsiteX0" fmla="*/ 1104130 w 5780106"/>
              <a:gd name="connsiteY0" fmla="*/ 0 h 6873306"/>
              <a:gd name="connsiteX1" fmla="*/ 5780106 w 5780106"/>
              <a:gd name="connsiteY1" fmla="*/ 11953 h 6873306"/>
              <a:gd name="connsiteX2" fmla="*/ 5780106 w 5780106"/>
              <a:gd name="connsiteY2" fmla="*/ 6869951 h 6873306"/>
              <a:gd name="connsiteX3" fmla="*/ 0 w 5780106"/>
              <a:gd name="connsiteY3" fmla="*/ 6873306 h 6873306"/>
              <a:gd name="connsiteX4" fmla="*/ 1104130 w 5780106"/>
              <a:gd name="connsiteY4" fmla="*/ 0 h 6873306"/>
              <a:gd name="connsiteX0" fmla="*/ 1064815 w 5740791"/>
              <a:gd name="connsiteY0" fmla="*/ 0 h 6869951"/>
              <a:gd name="connsiteX1" fmla="*/ 5740791 w 5740791"/>
              <a:gd name="connsiteY1" fmla="*/ 11953 h 6869951"/>
              <a:gd name="connsiteX2" fmla="*/ 5740791 w 5740791"/>
              <a:gd name="connsiteY2" fmla="*/ 6869951 h 6869951"/>
              <a:gd name="connsiteX3" fmla="*/ 0 w 5740791"/>
              <a:gd name="connsiteY3" fmla="*/ 6863146 h 6869951"/>
              <a:gd name="connsiteX4" fmla="*/ 1064815 w 5740791"/>
              <a:gd name="connsiteY4" fmla="*/ 0 h 6869951"/>
              <a:gd name="connsiteX0" fmla="*/ 1038605 w 5714581"/>
              <a:gd name="connsiteY0" fmla="*/ 0 h 6873306"/>
              <a:gd name="connsiteX1" fmla="*/ 5714581 w 5714581"/>
              <a:gd name="connsiteY1" fmla="*/ 11953 h 6873306"/>
              <a:gd name="connsiteX2" fmla="*/ 5714581 w 5714581"/>
              <a:gd name="connsiteY2" fmla="*/ 6869951 h 6873306"/>
              <a:gd name="connsiteX3" fmla="*/ 0 w 5714581"/>
              <a:gd name="connsiteY3" fmla="*/ 6873306 h 6873306"/>
              <a:gd name="connsiteX4" fmla="*/ 1038605 w 5714581"/>
              <a:gd name="connsiteY4" fmla="*/ 0 h 6873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4581" h="6873306">
                <a:moveTo>
                  <a:pt x="1038605" y="0"/>
                </a:moveTo>
                <a:lnTo>
                  <a:pt x="5714581" y="11953"/>
                </a:lnTo>
                <a:lnTo>
                  <a:pt x="5714581" y="6869951"/>
                </a:lnTo>
                <a:lnTo>
                  <a:pt x="0" y="6873306"/>
                </a:lnTo>
                <a:lnTo>
                  <a:pt x="1038605"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jdelijke aanduiding voor inhoud 4">
            <a:extLst>
              <a:ext uri="{FF2B5EF4-FFF2-40B4-BE49-F238E27FC236}">
                <a16:creationId xmlns:a16="http://schemas.microsoft.com/office/drawing/2014/main" id="{72D75143-5681-4E6F-A9D4-5EC259367C25}"/>
              </a:ext>
            </a:extLst>
          </p:cNvPr>
          <p:cNvSpPr>
            <a:spLocks noGrp="1"/>
          </p:cNvSpPr>
          <p:nvPr>
            <p:ph idx="1"/>
          </p:nvPr>
        </p:nvSpPr>
        <p:spPr>
          <a:xfrm>
            <a:off x="5493026" y="533400"/>
            <a:ext cx="5883964" cy="5771481"/>
          </a:xfrm>
        </p:spPr>
        <p:txBody>
          <a:bodyPr vert="horz" lIns="91440" tIns="45720" rIns="91440" bIns="45720" rtlCol="0" anchor="ctr">
            <a:normAutofit/>
          </a:bodyPr>
          <a:lstStyle/>
          <a:p>
            <a:pPr marL="0" indent="0">
              <a:buNone/>
            </a:pPr>
            <a:endParaRPr lang="nl-NL" dirty="0"/>
          </a:p>
          <a:p>
            <a:pPr marL="0" indent="0">
              <a:buNone/>
            </a:pPr>
            <a:r>
              <a:rPr lang="nl-NL" dirty="0"/>
              <a:t>Stel jouw huis is 40 m2 met een lengte van 8m en een breedte van 5 meter. </a:t>
            </a:r>
          </a:p>
          <a:p>
            <a:pPr marL="0" indent="0">
              <a:buNone/>
            </a:pPr>
            <a:r>
              <a:rPr lang="nl-NL" dirty="0"/>
              <a:t>8m = 800 cm</a:t>
            </a:r>
          </a:p>
          <a:p>
            <a:pPr marL="0" indent="0">
              <a:buNone/>
            </a:pPr>
            <a:r>
              <a:rPr lang="nl-NL" dirty="0"/>
              <a:t>5m = 500 cm</a:t>
            </a:r>
          </a:p>
          <a:p>
            <a:pPr marL="0" indent="0">
              <a:buNone/>
            </a:pPr>
            <a:endParaRPr lang="nl-NL" dirty="0"/>
          </a:p>
          <a:p>
            <a:pPr marL="0" indent="0">
              <a:buNone/>
            </a:pPr>
            <a:r>
              <a:rPr lang="nl-NL" dirty="0"/>
              <a:t>Om het op schaal te tekenen deel je het door een bepaald getal. In dit geval 50cm. </a:t>
            </a:r>
          </a:p>
          <a:p>
            <a:pPr marL="0" indent="0">
              <a:buNone/>
            </a:pPr>
            <a:r>
              <a:rPr lang="nl-NL" dirty="0"/>
              <a:t>800/50=16 cm</a:t>
            </a:r>
          </a:p>
          <a:p>
            <a:pPr marL="0" indent="0">
              <a:buNone/>
            </a:pPr>
            <a:r>
              <a:rPr lang="nl-NL" dirty="0"/>
              <a:t>500/50=10 cm </a:t>
            </a:r>
          </a:p>
          <a:p>
            <a:pPr marL="0" indent="0">
              <a:buNone/>
            </a:pPr>
            <a:r>
              <a:rPr lang="nl-NL" dirty="0"/>
              <a:t>Schaal is hier 1:…..?</a:t>
            </a:r>
          </a:p>
        </p:txBody>
      </p:sp>
      <p:cxnSp>
        <p:nvCxnSpPr>
          <p:cNvPr id="20" name="Straight Connector 13">
            <a:extLst>
              <a:ext uri="{FF2B5EF4-FFF2-40B4-BE49-F238E27FC236}">
                <a16:creationId xmlns:a16="http://schemas.microsoft.com/office/drawing/2014/main" id="{A3B4C179-2540-4304-9C9C-2AAAA53EFD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 y="4894729"/>
            <a:ext cx="4206239" cy="1967878"/>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15">
            <a:extLst>
              <a:ext uri="{FF2B5EF4-FFF2-40B4-BE49-F238E27FC236}">
                <a16:creationId xmlns:a16="http://schemas.microsoft.com/office/drawing/2014/main" id="{7A364443-B44B-44C9-B8C4-AED23CB6215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1373" y="0"/>
            <a:ext cx="463526" cy="691388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ekstvak 1">
            <a:extLst>
              <a:ext uri="{FF2B5EF4-FFF2-40B4-BE49-F238E27FC236}">
                <a16:creationId xmlns:a16="http://schemas.microsoft.com/office/drawing/2014/main" id="{B6C1222E-7388-7B47-BE3A-0562218A3EFC}"/>
              </a:ext>
            </a:extLst>
          </p:cNvPr>
          <p:cNvSpPr txBox="1"/>
          <p:nvPr/>
        </p:nvSpPr>
        <p:spPr>
          <a:xfrm>
            <a:off x="868687" y="2625943"/>
            <a:ext cx="2657475" cy="830997"/>
          </a:xfrm>
          <a:prstGeom prst="rect">
            <a:avLst/>
          </a:prstGeom>
          <a:noFill/>
        </p:spPr>
        <p:txBody>
          <a:bodyPr wrap="square" rtlCol="0">
            <a:spAutoFit/>
          </a:bodyPr>
          <a:lstStyle/>
          <a:p>
            <a:r>
              <a:rPr lang="nl-NL" sz="4800" dirty="0"/>
              <a:t>SCHAAL</a:t>
            </a:r>
          </a:p>
        </p:txBody>
      </p:sp>
    </p:spTree>
    <p:extLst>
      <p:ext uri="{BB962C8B-B14F-4D97-AF65-F5344CB8AC3E}">
        <p14:creationId xmlns:p14="http://schemas.microsoft.com/office/powerpoint/2010/main" val="173014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12AC53-6A76-410C-3EB9-7AEDFB47543A}"/>
              </a:ext>
            </a:extLst>
          </p:cNvPr>
          <p:cNvSpPr>
            <a:spLocks noGrp="1"/>
          </p:cNvSpPr>
          <p:nvPr>
            <p:ph type="title"/>
          </p:nvPr>
        </p:nvSpPr>
        <p:spPr/>
        <p:txBody>
          <a:bodyPr/>
          <a:lstStyle/>
          <a:p>
            <a:r>
              <a:rPr lang="nl-NL" dirty="0"/>
              <a:t>De rekensom:</a:t>
            </a:r>
          </a:p>
        </p:txBody>
      </p:sp>
      <p:sp>
        <p:nvSpPr>
          <p:cNvPr id="3" name="Tijdelijke aanduiding voor inhoud 2">
            <a:extLst>
              <a:ext uri="{FF2B5EF4-FFF2-40B4-BE49-F238E27FC236}">
                <a16:creationId xmlns:a16="http://schemas.microsoft.com/office/drawing/2014/main" id="{81BF86FA-3E96-561B-B976-670A8C4D8FEE}"/>
              </a:ext>
            </a:extLst>
          </p:cNvPr>
          <p:cNvSpPr>
            <a:spLocks noGrp="1"/>
          </p:cNvSpPr>
          <p:nvPr>
            <p:ph idx="1"/>
          </p:nvPr>
        </p:nvSpPr>
        <p:spPr/>
        <p:txBody>
          <a:bodyPr/>
          <a:lstStyle/>
          <a:p>
            <a:r>
              <a:rPr lang="nl-NL" dirty="0"/>
              <a:t>Werkelijk / tekening = schaal</a:t>
            </a:r>
          </a:p>
          <a:p>
            <a:endParaRPr lang="nl-NL" dirty="0"/>
          </a:p>
          <a:p>
            <a:r>
              <a:rPr lang="nl-NL" dirty="0"/>
              <a:t>800/16 = 50</a:t>
            </a:r>
          </a:p>
          <a:p>
            <a:endParaRPr lang="nl-NL" dirty="0"/>
          </a:p>
          <a:p>
            <a:r>
              <a:rPr lang="nl-NL" dirty="0"/>
              <a:t>Schaal=  1: 50</a:t>
            </a:r>
          </a:p>
        </p:txBody>
      </p:sp>
    </p:spTree>
    <p:extLst>
      <p:ext uri="{BB962C8B-B14F-4D97-AF65-F5344CB8AC3E}">
        <p14:creationId xmlns:p14="http://schemas.microsoft.com/office/powerpoint/2010/main" val="960231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BF6502BB-680F-4E1B-943D-EEEC60ADC9C4}"/>
              </a:ext>
            </a:extLst>
          </p:cNvPr>
          <p:cNvSpPr>
            <a:spLocks noGrp="1"/>
          </p:cNvSpPr>
          <p:nvPr>
            <p:ph idx="1"/>
          </p:nvPr>
        </p:nvSpPr>
        <p:spPr>
          <a:xfrm>
            <a:off x="1143000" y="964525"/>
            <a:ext cx="7442860" cy="4024424"/>
          </a:xfrm>
        </p:spPr>
        <p:txBody>
          <a:bodyPr vert="horz" lIns="91440" tIns="45720" rIns="91440" bIns="45720" rtlCol="0" anchor="t">
            <a:normAutofit/>
          </a:bodyPr>
          <a:lstStyle/>
          <a:p>
            <a:pPr marL="0" indent="0">
              <a:buNone/>
            </a:pPr>
            <a:r>
              <a:rPr lang="nl-NL" dirty="0"/>
              <a:t>Voorbeeld van een plattegrond. (Zie hieronder)</a:t>
            </a:r>
          </a:p>
        </p:txBody>
      </p:sp>
      <p:sp>
        <p:nvSpPr>
          <p:cNvPr id="2" name="Tekstvak 1">
            <a:extLst>
              <a:ext uri="{FF2B5EF4-FFF2-40B4-BE49-F238E27FC236}">
                <a16:creationId xmlns:a16="http://schemas.microsoft.com/office/drawing/2014/main" id="{CC8FB99B-4325-054A-A8D9-4B810907AF39}"/>
              </a:ext>
            </a:extLst>
          </p:cNvPr>
          <p:cNvSpPr txBox="1"/>
          <p:nvPr/>
        </p:nvSpPr>
        <p:spPr>
          <a:xfrm>
            <a:off x="8075221" y="1852551"/>
            <a:ext cx="3301340" cy="923330"/>
          </a:xfrm>
          <a:prstGeom prst="rect">
            <a:avLst/>
          </a:prstGeom>
          <a:noFill/>
        </p:spPr>
        <p:txBody>
          <a:bodyPr wrap="square" lIns="91440" tIns="45720" rIns="91440" bIns="45720" rtlCol="0" anchor="t">
            <a:spAutoFit/>
          </a:bodyPr>
          <a:lstStyle/>
          <a:p>
            <a:r>
              <a:rPr lang="nl-NL" dirty="0"/>
              <a:t>Stap 3 </a:t>
            </a:r>
            <a:r>
              <a:rPr lang="nl-NL" dirty="0">
                <a:sym typeface="Wingdings" pitchFamily="2" charset="2"/>
              </a:rPr>
              <a:t></a:t>
            </a:r>
            <a:r>
              <a:rPr lang="nl-NL" dirty="0"/>
              <a:t>Teken de vorm van jouw woonkamer/keuken. Zorg dat je deze op schaal tekent. (zie andere dia)</a:t>
            </a:r>
          </a:p>
        </p:txBody>
      </p:sp>
      <p:pic>
        <p:nvPicPr>
          <p:cNvPr id="6" name="Afbeelding 5" descr="Afbeelding met tekst, muur, binnen, whiteboard&#10;&#10;Automatisch gegenereerde beschrijving">
            <a:extLst>
              <a:ext uri="{FF2B5EF4-FFF2-40B4-BE49-F238E27FC236}">
                <a16:creationId xmlns:a16="http://schemas.microsoft.com/office/drawing/2014/main" id="{B2DA01F4-5131-8E4B-8C1D-9BBA42DE493D}"/>
              </a:ext>
            </a:extLst>
          </p:cNvPr>
          <p:cNvPicPr>
            <a:picLocks noChangeAspect="1"/>
          </p:cNvPicPr>
          <p:nvPr/>
        </p:nvPicPr>
        <p:blipFill>
          <a:blip r:embed="rId2"/>
          <a:stretch>
            <a:fillRect/>
          </a:stretch>
        </p:blipFill>
        <p:spPr>
          <a:xfrm rot="16200000">
            <a:off x="2315627" y="535662"/>
            <a:ext cx="3857625" cy="6858000"/>
          </a:xfrm>
          <a:prstGeom prst="rect">
            <a:avLst/>
          </a:prstGeom>
        </p:spPr>
      </p:pic>
    </p:spTree>
    <p:extLst>
      <p:ext uri="{BB962C8B-B14F-4D97-AF65-F5344CB8AC3E}">
        <p14:creationId xmlns:p14="http://schemas.microsoft.com/office/powerpoint/2010/main" val="2587808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222250-799A-4AD0-9BD1-BE6EB7A06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770432A-C0A6-4D4F-AE2C-705049DAB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2" name="Straight Connector 11">
            <a:extLst>
              <a:ext uri="{FF2B5EF4-FFF2-40B4-BE49-F238E27FC236}">
                <a16:creationId xmlns:a16="http://schemas.microsoft.com/office/drawing/2014/main" id="{78FBE787-8B1D-40E5-8468-6F665BB5D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Tijdelijke aanduiding voor inhoud 2">
            <a:extLst>
              <a:ext uri="{FF2B5EF4-FFF2-40B4-BE49-F238E27FC236}">
                <a16:creationId xmlns:a16="http://schemas.microsoft.com/office/drawing/2014/main" id="{2E908FBE-95B4-4A66-A594-1F3DA6D6B5B0}"/>
              </a:ext>
            </a:extLst>
          </p:cNvPr>
          <p:cNvSpPr>
            <a:spLocks noGrp="1"/>
          </p:cNvSpPr>
          <p:nvPr>
            <p:ph idx="1"/>
          </p:nvPr>
        </p:nvSpPr>
        <p:spPr>
          <a:xfrm>
            <a:off x="7218706" y="2211069"/>
            <a:ext cx="4439894" cy="4113531"/>
          </a:xfrm>
        </p:spPr>
        <p:txBody>
          <a:bodyPr vert="horz" lIns="91440" tIns="45720" rIns="91440" bIns="45720" rtlCol="0">
            <a:normAutofit/>
          </a:bodyPr>
          <a:lstStyle/>
          <a:p>
            <a:pPr marL="0" indent="0">
              <a:buNone/>
            </a:pPr>
            <a:r>
              <a:rPr lang="nl-NL" dirty="0"/>
              <a:t>Stap 3 </a:t>
            </a:r>
            <a:r>
              <a:rPr lang="nl-NL" dirty="0">
                <a:sym typeface="Wingdings" pitchFamily="2" charset="2"/>
              </a:rPr>
              <a:t> teken nu de muur. Deze is vanaf de rand een halve cm dik. </a:t>
            </a:r>
            <a:endParaRPr lang="nl-NL" dirty="0"/>
          </a:p>
          <a:p>
            <a:pPr marL="0" indent="0">
              <a:buNone/>
            </a:pPr>
            <a:endParaRPr lang="nl-NL" dirty="0"/>
          </a:p>
        </p:txBody>
      </p:sp>
      <p:pic>
        <p:nvPicPr>
          <p:cNvPr id="5" name="Afbeelding 4" descr="Afbeelding met tekst, muur, binnen&#10;&#10;Automatisch gegenereerde beschrijving">
            <a:extLst>
              <a:ext uri="{FF2B5EF4-FFF2-40B4-BE49-F238E27FC236}">
                <a16:creationId xmlns:a16="http://schemas.microsoft.com/office/drawing/2014/main" id="{6C995B4D-EAC4-9846-9B7F-DE74130CB132}"/>
              </a:ext>
            </a:extLst>
          </p:cNvPr>
          <p:cNvPicPr>
            <a:picLocks noChangeAspect="1"/>
          </p:cNvPicPr>
          <p:nvPr/>
        </p:nvPicPr>
        <p:blipFill>
          <a:blip r:embed="rId2"/>
          <a:stretch>
            <a:fillRect/>
          </a:stretch>
        </p:blipFill>
        <p:spPr>
          <a:xfrm rot="16200000">
            <a:off x="1750220" y="207168"/>
            <a:ext cx="3128963" cy="5562601"/>
          </a:xfrm>
          <a:prstGeom prst="rect">
            <a:avLst/>
          </a:prstGeom>
        </p:spPr>
      </p:pic>
    </p:spTree>
    <p:extLst>
      <p:ext uri="{BB962C8B-B14F-4D97-AF65-F5344CB8AC3E}">
        <p14:creationId xmlns:p14="http://schemas.microsoft.com/office/powerpoint/2010/main" val="1384582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8222250-799A-4AD0-9BD1-BE6EB7A06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B770432A-C0A6-4D4F-AE2C-705049DAB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5" name="Straight Connector 14">
            <a:extLst>
              <a:ext uri="{FF2B5EF4-FFF2-40B4-BE49-F238E27FC236}">
                <a16:creationId xmlns:a16="http://schemas.microsoft.com/office/drawing/2014/main" id="{78FBE787-8B1D-40E5-8468-6F665BB5D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 name="Tekstvak 4">
            <a:extLst>
              <a:ext uri="{FF2B5EF4-FFF2-40B4-BE49-F238E27FC236}">
                <a16:creationId xmlns:a16="http://schemas.microsoft.com/office/drawing/2014/main" id="{E8347C08-88DF-4F93-B9C2-6C6A0FAE9965}"/>
              </a:ext>
            </a:extLst>
          </p:cNvPr>
          <p:cNvSpPr txBox="1"/>
          <p:nvPr/>
        </p:nvSpPr>
        <p:spPr>
          <a:xfrm>
            <a:off x="7218706" y="2211069"/>
            <a:ext cx="4439894" cy="411353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spcAft>
                <a:spcPts val="600"/>
              </a:spcAft>
              <a:buSzPct val="80000"/>
            </a:pPr>
            <a:r>
              <a:rPr lang="en-US" sz="2400" dirty="0" err="1">
                <a:solidFill>
                  <a:schemeClr val="tx2"/>
                </a:solidFill>
              </a:rPr>
              <a:t>Stap</a:t>
            </a:r>
            <a:r>
              <a:rPr lang="en-US" sz="2400" dirty="0">
                <a:solidFill>
                  <a:schemeClr val="tx2"/>
                </a:solidFill>
              </a:rPr>
              <a:t> 5 </a:t>
            </a:r>
            <a:r>
              <a:rPr lang="en-US" sz="2400" dirty="0">
                <a:solidFill>
                  <a:schemeClr val="tx2"/>
                </a:solidFill>
                <a:sym typeface="Wingdings" pitchFamily="2" charset="2"/>
              </a:rPr>
              <a:t> </a:t>
            </a:r>
            <a:r>
              <a:rPr lang="en-US" sz="2400" dirty="0" err="1">
                <a:solidFill>
                  <a:schemeClr val="tx2"/>
                </a:solidFill>
                <a:sym typeface="Wingdings" pitchFamily="2" charset="2"/>
              </a:rPr>
              <a:t>teken</a:t>
            </a:r>
            <a:r>
              <a:rPr lang="en-US" sz="2400" dirty="0">
                <a:solidFill>
                  <a:schemeClr val="tx2"/>
                </a:solidFill>
                <a:sym typeface="Wingdings" pitchFamily="2" charset="2"/>
              </a:rPr>
              <a:t> nu de ramen </a:t>
            </a:r>
            <a:r>
              <a:rPr lang="en-US" sz="2400" dirty="0" err="1">
                <a:solidFill>
                  <a:schemeClr val="tx2"/>
                </a:solidFill>
                <a:sym typeface="Wingdings" pitchFamily="2" charset="2"/>
              </a:rPr>
              <a:t>en</a:t>
            </a:r>
            <a:r>
              <a:rPr lang="en-US" sz="2400" dirty="0">
                <a:solidFill>
                  <a:schemeClr val="tx2"/>
                </a:solidFill>
                <a:sym typeface="Wingdings" pitchFamily="2" charset="2"/>
              </a:rPr>
              <a:t> </a:t>
            </a:r>
            <a:r>
              <a:rPr lang="en-US" sz="2400" dirty="0" err="1">
                <a:solidFill>
                  <a:schemeClr val="tx2"/>
                </a:solidFill>
                <a:sym typeface="Wingdings" pitchFamily="2" charset="2"/>
              </a:rPr>
              <a:t>deuren</a:t>
            </a:r>
            <a:r>
              <a:rPr lang="en-US" sz="2400" dirty="0">
                <a:solidFill>
                  <a:schemeClr val="tx2"/>
                </a:solidFill>
                <a:sym typeface="Wingdings" pitchFamily="2" charset="2"/>
              </a:rPr>
              <a:t> in. </a:t>
            </a:r>
            <a:r>
              <a:rPr lang="en-US" sz="2400" dirty="0" err="1">
                <a:solidFill>
                  <a:schemeClr val="tx2"/>
                </a:solidFill>
                <a:sym typeface="Wingdings" pitchFamily="2" charset="2"/>
              </a:rPr>
              <a:t>Gebruik</a:t>
            </a:r>
            <a:r>
              <a:rPr lang="en-US" sz="2400" dirty="0">
                <a:solidFill>
                  <a:schemeClr val="tx2"/>
                </a:solidFill>
                <a:sym typeface="Wingdings" pitchFamily="2" charset="2"/>
              </a:rPr>
              <a:t> </a:t>
            </a:r>
            <a:r>
              <a:rPr lang="en-US" sz="2400" dirty="0" err="1">
                <a:solidFill>
                  <a:schemeClr val="tx2"/>
                </a:solidFill>
                <a:sym typeface="Wingdings" pitchFamily="2" charset="2"/>
              </a:rPr>
              <a:t>hiervoor</a:t>
            </a:r>
            <a:r>
              <a:rPr lang="en-US" sz="2400" dirty="0">
                <a:solidFill>
                  <a:schemeClr val="tx2"/>
                </a:solidFill>
                <a:sym typeface="Wingdings" pitchFamily="2" charset="2"/>
              </a:rPr>
              <a:t> de </a:t>
            </a:r>
            <a:r>
              <a:rPr lang="en-US" sz="2400" dirty="0" err="1">
                <a:solidFill>
                  <a:schemeClr val="tx2"/>
                </a:solidFill>
                <a:sym typeface="Wingdings" pitchFamily="2" charset="2"/>
              </a:rPr>
              <a:t>icoontjes</a:t>
            </a:r>
            <a:r>
              <a:rPr lang="en-US" sz="2400" dirty="0">
                <a:solidFill>
                  <a:schemeClr val="tx2"/>
                </a:solidFill>
                <a:sym typeface="Wingdings" pitchFamily="2" charset="2"/>
              </a:rPr>
              <a:t> die </a:t>
            </a:r>
            <a:r>
              <a:rPr lang="en-US" sz="2400" dirty="0" err="1">
                <a:solidFill>
                  <a:schemeClr val="tx2"/>
                </a:solidFill>
                <a:sym typeface="Wingdings" pitchFamily="2" charset="2"/>
              </a:rPr>
              <a:t>hieronder</a:t>
            </a:r>
            <a:r>
              <a:rPr lang="en-US" sz="2400" dirty="0">
                <a:solidFill>
                  <a:schemeClr val="tx2"/>
                </a:solidFill>
                <a:sym typeface="Wingdings" pitchFamily="2" charset="2"/>
              </a:rPr>
              <a:t> </a:t>
            </a:r>
            <a:r>
              <a:rPr lang="en-US" sz="2400" dirty="0" err="1">
                <a:solidFill>
                  <a:schemeClr val="tx2"/>
                </a:solidFill>
                <a:sym typeface="Wingdings" pitchFamily="2" charset="2"/>
              </a:rPr>
              <a:t>zijn</a:t>
            </a:r>
            <a:r>
              <a:rPr lang="en-US" sz="2400" dirty="0">
                <a:solidFill>
                  <a:schemeClr val="tx2"/>
                </a:solidFill>
                <a:sym typeface="Wingdings" pitchFamily="2" charset="2"/>
              </a:rPr>
              <a:t> </a:t>
            </a:r>
            <a:r>
              <a:rPr lang="en-US" sz="2400" dirty="0" err="1">
                <a:solidFill>
                  <a:schemeClr val="tx2"/>
                </a:solidFill>
                <a:sym typeface="Wingdings" pitchFamily="2" charset="2"/>
              </a:rPr>
              <a:t>aangegeven</a:t>
            </a:r>
            <a:r>
              <a:rPr lang="en-US" sz="2400" dirty="0">
                <a:solidFill>
                  <a:schemeClr val="tx2"/>
                </a:solidFill>
                <a:sym typeface="Wingdings" pitchFamily="2" charset="2"/>
              </a:rPr>
              <a:t>. </a:t>
            </a:r>
          </a:p>
          <a:p>
            <a:pPr>
              <a:spcAft>
                <a:spcPts val="600"/>
              </a:spcAft>
              <a:buSzPct val="80000"/>
            </a:pPr>
            <a:endParaRPr lang="en-US" sz="2400" dirty="0">
              <a:solidFill>
                <a:schemeClr val="tx2"/>
              </a:solidFill>
              <a:sym typeface="Wingdings" pitchFamily="2" charset="2"/>
            </a:endParaRPr>
          </a:p>
          <a:p>
            <a:pPr>
              <a:spcAft>
                <a:spcPts val="600"/>
              </a:spcAft>
              <a:buSzPct val="80000"/>
            </a:pPr>
            <a:r>
              <a:rPr lang="en-US" sz="2400" dirty="0">
                <a:solidFill>
                  <a:schemeClr val="tx2"/>
                </a:solidFill>
                <a:sym typeface="Wingdings" pitchFamily="2" charset="2"/>
              </a:rPr>
              <a:t>Let op! de </a:t>
            </a:r>
            <a:r>
              <a:rPr lang="en-US" sz="2400" dirty="0" err="1">
                <a:solidFill>
                  <a:schemeClr val="tx2"/>
                </a:solidFill>
                <a:sym typeface="Wingdings" pitchFamily="2" charset="2"/>
              </a:rPr>
              <a:t>deuren</a:t>
            </a:r>
            <a:r>
              <a:rPr lang="en-US" sz="2400" dirty="0">
                <a:solidFill>
                  <a:schemeClr val="tx2"/>
                </a:solidFill>
                <a:sym typeface="Wingdings" pitchFamily="2" charset="2"/>
              </a:rPr>
              <a:t> </a:t>
            </a:r>
            <a:r>
              <a:rPr lang="en-US" sz="2400" dirty="0" err="1">
                <a:solidFill>
                  <a:schemeClr val="tx2"/>
                </a:solidFill>
                <a:sym typeface="Wingdings" pitchFamily="2" charset="2"/>
              </a:rPr>
              <a:t>en</a:t>
            </a:r>
            <a:r>
              <a:rPr lang="en-US" sz="2400" dirty="0">
                <a:solidFill>
                  <a:schemeClr val="tx2"/>
                </a:solidFill>
                <a:sym typeface="Wingdings" pitchFamily="2" charset="2"/>
              </a:rPr>
              <a:t> ramen </a:t>
            </a:r>
            <a:r>
              <a:rPr lang="en-US" sz="2400" dirty="0" err="1">
                <a:solidFill>
                  <a:schemeClr val="tx2"/>
                </a:solidFill>
                <a:sym typeface="Wingdings" pitchFamily="2" charset="2"/>
              </a:rPr>
              <a:t>moeten</a:t>
            </a:r>
            <a:r>
              <a:rPr lang="en-US" sz="2400" dirty="0">
                <a:solidFill>
                  <a:schemeClr val="tx2"/>
                </a:solidFill>
                <a:sym typeface="Wingdings" pitchFamily="2" charset="2"/>
              </a:rPr>
              <a:t> op </a:t>
            </a:r>
            <a:r>
              <a:rPr lang="en-US" sz="2400" dirty="0" err="1">
                <a:solidFill>
                  <a:schemeClr val="tx2"/>
                </a:solidFill>
                <a:sym typeface="Wingdings" pitchFamily="2" charset="2"/>
              </a:rPr>
              <a:t>dezelfde</a:t>
            </a:r>
            <a:r>
              <a:rPr lang="en-US" sz="2400" dirty="0">
                <a:solidFill>
                  <a:schemeClr val="tx2"/>
                </a:solidFill>
                <a:sym typeface="Wingdings" pitchFamily="2" charset="2"/>
              </a:rPr>
              <a:t> </a:t>
            </a:r>
            <a:r>
              <a:rPr lang="en-US" sz="2400" dirty="0" err="1">
                <a:solidFill>
                  <a:schemeClr val="tx2"/>
                </a:solidFill>
                <a:sym typeface="Wingdings" pitchFamily="2" charset="2"/>
              </a:rPr>
              <a:t>plek</a:t>
            </a:r>
            <a:r>
              <a:rPr lang="en-US" sz="2400" dirty="0">
                <a:solidFill>
                  <a:schemeClr val="tx2"/>
                </a:solidFill>
                <a:sym typeface="Wingdings" pitchFamily="2" charset="2"/>
              </a:rPr>
              <a:t> </a:t>
            </a:r>
            <a:r>
              <a:rPr lang="en-US" sz="2400" dirty="0" err="1">
                <a:solidFill>
                  <a:schemeClr val="tx2"/>
                </a:solidFill>
                <a:sym typeface="Wingdings" pitchFamily="2" charset="2"/>
              </a:rPr>
              <a:t>zitten</a:t>
            </a:r>
            <a:r>
              <a:rPr lang="en-US" sz="2400" dirty="0">
                <a:solidFill>
                  <a:schemeClr val="tx2"/>
                </a:solidFill>
                <a:sym typeface="Wingdings" pitchFamily="2" charset="2"/>
              </a:rPr>
              <a:t> </a:t>
            </a:r>
            <a:r>
              <a:rPr lang="en-US" sz="2400" dirty="0" err="1">
                <a:solidFill>
                  <a:schemeClr val="tx2"/>
                </a:solidFill>
                <a:sym typeface="Wingdings" pitchFamily="2" charset="2"/>
              </a:rPr>
              <a:t>als</a:t>
            </a:r>
            <a:r>
              <a:rPr lang="en-US" sz="2400" dirty="0">
                <a:solidFill>
                  <a:schemeClr val="tx2"/>
                </a:solidFill>
                <a:sym typeface="Wingdings" pitchFamily="2" charset="2"/>
              </a:rPr>
              <a:t> op je </a:t>
            </a:r>
            <a:r>
              <a:rPr lang="en-US" sz="2400" dirty="0" err="1">
                <a:solidFill>
                  <a:schemeClr val="tx2"/>
                </a:solidFill>
                <a:sym typeface="Wingdings" pitchFamily="2" charset="2"/>
              </a:rPr>
              <a:t>tekening</a:t>
            </a:r>
            <a:r>
              <a:rPr lang="en-US" sz="2400" dirty="0">
                <a:solidFill>
                  <a:schemeClr val="tx2"/>
                </a:solidFill>
                <a:sym typeface="Wingdings" pitchFamily="2" charset="2"/>
              </a:rPr>
              <a:t> </a:t>
            </a:r>
            <a:r>
              <a:rPr lang="en-US" sz="2400" dirty="0" err="1">
                <a:solidFill>
                  <a:schemeClr val="tx2"/>
                </a:solidFill>
                <a:sym typeface="Wingdings" pitchFamily="2" charset="2"/>
              </a:rPr>
              <a:t>waar</a:t>
            </a:r>
            <a:r>
              <a:rPr lang="en-US" sz="2400" dirty="0">
                <a:solidFill>
                  <a:schemeClr val="tx2"/>
                </a:solidFill>
                <a:sym typeface="Wingdings" pitchFamily="2" charset="2"/>
              </a:rPr>
              <a:t> je je </a:t>
            </a:r>
            <a:r>
              <a:rPr lang="en-US" sz="2400" dirty="0" err="1">
                <a:solidFill>
                  <a:schemeClr val="tx2"/>
                </a:solidFill>
                <a:sym typeface="Wingdings" pitchFamily="2" charset="2"/>
              </a:rPr>
              <a:t>aanzichten</a:t>
            </a:r>
            <a:r>
              <a:rPr lang="en-US" sz="2400" dirty="0">
                <a:solidFill>
                  <a:schemeClr val="tx2"/>
                </a:solidFill>
                <a:sym typeface="Wingdings" pitchFamily="2" charset="2"/>
              </a:rPr>
              <a:t> </a:t>
            </a:r>
            <a:r>
              <a:rPr lang="en-US" sz="2400" dirty="0" err="1">
                <a:solidFill>
                  <a:schemeClr val="tx2"/>
                </a:solidFill>
                <a:sym typeface="Wingdings" pitchFamily="2" charset="2"/>
              </a:rPr>
              <a:t>hebt</a:t>
            </a:r>
            <a:r>
              <a:rPr lang="en-US" sz="2400" dirty="0">
                <a:solidFill>
                  <a:schemeClr val="tx2"/>
                </a:solidFill>
                <a:sym typeface="Wingdings" pitchFamily="2" charset="2"/>
              </a:rPr>
              <a:t> </a:t>
            </a:r>
            <a:r>
              <a:rPr lang="en-US" sz="2400" dirty="0" err="1">
                <a:solidFill>
                  <a:schemeClr val="tx2"/>
                </a:solidFill>
                <a:sym typeface="Wingdings" pitchFamily="2" charset="2"/>
              </a:rPr>
              <a:t>getekend</a:t>
            </a:r>
            <a:r>
              <a:rPr lang="en-US" sz="2400" dirty="0">
                <a:solidFill>
                  <a:schemeClr val="tx2"/>
                </a:solidFill>
                <a:sym typeface="Wingdings" pitchFamily="2" charset="2"/>
              </a:rPr>
              <a:t>. </a:t>
            </a:r>
            <a:endParaRPr lang="en-US" dirty="0">
              <a:solidFill>
                <a:schemeClr val="tx2"/>
              </a:solidFill>
            </a:endParaRPr>
          </a:p>
        </p:txBody>
      </p:sp>
      <p:pic>
        <p:nvPicPr>
          <p:cNvPr id="2050" name="Picture 2" descr="Bouwtechnisch Tekenen: Tekentechnieken - BK Wiki">
            <a:extLst>
              <a:ext uri="{FF2B5EF4-FFF2-40B4-BE49-F238E27FC236}">
                <a16:creationId xmlns:a16="http://schemas.microsoft.com/office/drawing/2014/main" id="{71786E39-1226-AA4F-9437-83A524E51A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981" y="944562"/>
            <a:ext cx="5367752" cy="496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420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0" name="Straight Connector 29">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1AF3C8EA-7A37-4A07-BDF2-89EBD3DF2C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Afbeelding 7" descr="Afbeelding met muur, binnen&#10;&#10;Automatisch gegenereerde beschrijving">
            <a:extLst>
              <a:ext uri="{FF2B5EF4-FFF2-40B4-BE49-F238E27FC236}">
                <a16:creationId xmlns:a16="http://schemas.microsoft.com/office/drawing/2014/main" id="{152E0F46-B408-3843-B96E-2A1E5A434160}"/>
              </a:ext>
            </a:extLst>
          </p:cNvPr>
          <p:cNvPicPr>
            <a:picLocks noChangeAspect="1"/>
          </p:cNvPicPr>
          <p:nvPr/>
        </p:nvPicPr>
        <p:blipFill rotWithShape="1">
          <a:blip r:embed="rId2"/>
          <a:srcRect/>
          <a:stretch/>
        </p:blipFill>
        <p:spPr>
          <a:xfrm rot="16200000">
            <a:off x="2667000" y="-2667000"/>
            <a:ext cx="6858000" cy="12192000"/>
          </a:xfrm>
          <a:prstGeom prst="rect">
            <a:avLst/>
          </a:prstGeom>
        </p:spPr>
      </p:pic>
    </p:spTree>
    <p:extLst>
      <p:ext uri="{BB962C8B-B14F-4D97-AF65-F5344CB8AC3E}">
        <p14:creationId xmlns:p14="http://schemas.microsoft.com/office/powerpoint/2010/main" val="2171619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F8222250-799A-4AD0-9BD1-BE6EB7A06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B770432A-C0A6-4D4F-AE2C-705049DAB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098" name="Picture 2" descr="Plattegrond Met Geïsoleerde Meubelelementen In Bovenaanzicht Royalty-Vrije  Foto, Plaatjes, Beelden En Stock Fotografie. Image 81262461.">
            <a:extLst>
              <a:ext uri="{FF2B5EF4-FFF2-40B4-BE49-F238E27FC236}">
                <a16:creationId xmlns:a16="http://schemas.microsoft.com/office/drawing/2014/main" id="{2740F30E-A6AC-E54B-8456-8468BC99097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3400" y="1584481"/>
            <a:ext cx="5270053" cy="3689037"/>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78FBE787-8B1D-40E5-8468-6F665BB5D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 name="Tekstvak 4">
            <a:extLst>
              <a:ext uri="{FF2B5EF4-FFF2-40B4-BE49-F238E27FC236}">
                <a16:creationId xmlns:a16="http://schemas.microsoft.com/office/drawing/2014/main" id="{E8347C08-88DF-4F93-B9C2-6C6A0FAE9965}"/>
              </a:ext>
            </a:extLst>
          </p:cNvPr>
          <p:cNvSpPr txBox="1"/>
          <p:nvPr/>
        </p:nvSpPr>
        <p:spPr>
          <a:xfrm>
            <a:off x="7218706" y="2211069"/>
            <a:ext cx="4439894" cy="4113531"/>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spcAft>
                <a:spcPts val="600"/>
              </a:spcAft>
              <a:buSzPct val="80000"/>
              <a:buFont typeface="Arial" panose="020B0604020202020204" pitchFamily="34" charset="0"/>
              <a:buChar char="•"/>
            </a:pPr>
            <a:r>
              <a:rPr lang="en-US">
                <a:solidFill>
                  <a:schemeClr val="tx2"/>
                </a:solidFill>
              </a:rPr>
              <a:t>Stap 6 </a:t>
            </a:r>
            <a:r>
              <a:rPr lang="en-US">
                <a:solidFill>
                  <a:schemeClr val="tx2"/>
                </a:solidFill>
                <a:sym typeface="Wingdings" pitchFamily="2" charset="2"/>
              </a:rPr>
              <a:t> teken nu de meubels in. Hiervoor kun je de icoontjes van hiernaast gebruiken. </a:t>
            </a:r>
            <a:endParaRPr lang="en-US">
              <a:solidFill>
                <a:schemeClr val="tx2"/>
              </a:solidFill>
            </a:endParaRPr>
          </a:p>
        </p:txBody>
      </p:sp>
    </p:spTree>
    <p:extLst>
      <p:ext uri="{BB962C8B-B14F-4D97-AF65-F5344CB8AC3E}">
        <p14:creationId xmlns:p14="http://schemas.microsoft.com/office/powerpoint/2010/main" val="463243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F8222250-799A-4AD0-9BD1-BE6EB7A06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Shape 72">
            <a:extLst>
              <a:ext uri="{FF2B5EF4-FFF2-40B4-BE49-F238E27FC236}">
                <a16:creationId xmlns:a16="http://schemas.microsoft.com/office/drawing/2014/main" id="{B770432A-C0A6-4D4F-AE2C-705049DAB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098" name="Picture 2" descr="Plattegrond Met Geïsoleerde Meubelelementen In Bovenaanzicht Royalty-Vrije  Foto, Plaatjes, Beelden En Stock Fotografie. Image 81262461.">
            <a:extLst>
              <a:ext uri="{FF2B5EF4-FFF2-40B4-BE49-F238E27FC236}">
                <a16:creationId xmlns:a16="http://schemas.microsoft.com/office/drawing/2014/main" id="{2740F30E-A6AC-E54B-8456-8468BC99097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3400" y="1584481"/>
            <a:ext cx="5270053" cy="3689037"/>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78FBE787-8B1D-40E5-8468-6F665BB5D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5" name="Tekstvak 4">
            <a:extLst>
              <a:ext uri="{FF2B5EF4-FFF2-40B4-BE49-F238E27FC236}">
                <a16:creationId xmlns:a16="http://schemas.microsoft.com/office/drawing/2014/main" id="{E8347C08-88DF-4F93-B9C2-6C6A0FAE9965}"/>
              </a:ext>
            </a:extLst>
          </p:cNvPr>
          <p:cNvSpPr txBox="1"/>
          <p:nvPr/>
        </p:nvSpPr>
        <p:spPr>
          <a:xfrm>
            <a:off x="7218706" y="2211069"/>
            <a:ext cx="4439894" cy="4113531"/>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spcAft>
                <a:spcPts val="600"/>
              </a:spcAft>
              <a:buSzPct val="80000"/>
              <a:buFont typeface="Arial" panose="020B0604020202020204" pitchFamily="34" charset="0"/>
              <a:buChar char="•"/>
            </a:pPr>
            <a:r>
              <a:rPr lang="en-US" dirty="0">
                <a:solidFill>
                  <a:schemeClr val="tx2"/>
                </a:solidFill>
              </a:rPr>
              <a:t>Stap 7 </a:t>
            </a:r>
            <a:r>
              <a:rPr lang="en-US" dirty="0">
                <a:solidFill>
                  <a:schemeClr val="tx2"/>
                </a:solidFill>
                <a:sym typeface="Wingdings" pitchFamily="2" charset="2"/>
              </a:rPr>
              <a:t> Ben je </a:t>
            </a:r>
            <a:r>
              <a:rPr lang="en-US" dirty="0" err="1">
                <a:solidFill>
                  <a:schemeClr val="tx2"/>
                </a:solidFill>
                <a:sym typeface="Wingdings" pitchFamily="2" charset="2"/>
              </a:rPr>
              <a:t>klaar</a:t>
            </a:r>
            <a:r>
              <a:rPr lang="en-US" dirty="0">
                <a:solidFill>
                  <a:schemeClr val="tx2"/>
                </a:solidFill>
                <a:sym typeface="Wingdings" pitchFamily="2" charset="2"/>
              </a:rPr>
              <a:t> dan mag je de </a:t>
            </a:r>
            <a:r>
              <a:rPr lang="en-US" dirty="0" err="1">
                <a:solidFill>
                  <a:schemeClr val="tx2"/>
                </a:solidFill>
                <a:sym typeface="Wingdings" pitchFamily="2" charset="2"/>
              </a:rPr>
              <a:t>naar</a:t>
            </a:r>
            <a:r>
              <a:rPr lang="en-US" dirty="0">
                <a:solidFill>
                  <a:schemeClr val="tx2"/>
                </a:solidFill>
                <a:sym typeface="Wingdings" pitchFamily="2" charset="2"/>
              </a:rPr>
              <a:t> de </a:t>
            </a:r>
            <a:r>
              <a:rPr lang="en-US" dirty="0" err="1">
                <a:solidFill>
                  <a:schemeClr val="tx2"/>
                </a:solidFill>
                <a:sym typeface="Wingdings" pitchFamily="2" charset="2"/>
              </a:rPr>
              <a:t>volgende</a:t>
            </a:r>
            <a:r>
              <a:rPr lang="en-US" dirty="0">
                <a:solidFill>
                  <a:schemeClr val="tx2"/>
                </a:solidFill>
                <a:sym typeface="Wingdings" pitchFamily="2" charset="2"/>
              </a:rPr>
              <a:t> </a:t>
            </a:r>
            <a:r>
              <a:rPr lang="en-US" dirty="0" err="1">
                <a:solidFill>
                  <a:schemeClr val="tx2"/>
                </a:solidFill>
                <a:sym typeface="Wingdings" pitchFamily="2" charset="2"/>
              </a:rPr>
              <a:t>stap</a:t>
            </a:r>
            <a:r>
              <a:rPr lang="en-US" dirty="0">
                <a:solidFill>
                  <a:schemeClr val="tx2"/>
                </a:solidFill>
                <a:sym typeface="Wingdings" pitchFamily="2" charset="2"/>
              </a:rPr>
              <a:t> </a:t>
            </a:r>
            <a:endParaRPr lang="en-US" dirty="0">
              <a:solidFill>
                <a:schemeClr val="tx2"/>
              </a:solidFill>
            </a:endParaRPr>
          </a:p>
        </p:txBody>
      </p:sp>
    </p:spTree>
    <p:extLst>
      <p:ext uri="{BB962C8B-B14F-4D97-AF65-F5344CB8AC3E}">
        <p14:creationId xmlns:p14="http://schemas.microsoft.com/office/powerpoint/2010/main" val="979056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E8D7BDBC-93BA-6A4D-9940-0F99F491709A}"/>
              </a:ext>
            </a:extLst>
          </p:cNvPr>
          <p:cNvSpPr>
            <a:spLocks noGrp="1"/>
          </p:cNvSpPr>
          <p:nvPr>
            <p:ph type="title"/>
          </p:nvPr>
        </p:nvSpPr>
        <p:spPr>
          <a:xfrm>
            <a:off x="371094" y="1161288"/>
            <a:ext cx="3438144" cy="1124712"/>
          </a:xfrm>
        </p:spPr>
        <p:txBody>
          <a:bodyPr anchor="b">
            <a:normAutofit/>
          </a:bodyPr>
          <a:lstStyle/>
          <a:p>
            <a:r>
              <a:rPr lang="nl-NL" sz="2800" dirty="0">
                <a:cs typeface="Calibri Light"/>
              </a:rPr>
              <a:t>Opdracht 3</a:t>
            </a:r>
          </a:p>
        </p:txBody>
      </p:sp>
      <p:sp>
        <p:nvSpPr>
          <p:cNvPr id="39" name="Rectangle 3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1" name="Rectangle 4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jdelijke aanduiding voor inhoud 2">
            <a:extLst>
              <a:ext uri="{FF2B5EF4-FFF2-40B4-BE49-F238E27FC236}">
                <a16:creationId xmlns:a16="http://schemas.microsoft.com/office/drawing/2014/main" id="{8B7BDBDF-CC84-2443-80A6-25A547FD69CA}"/>
              </a:ext>
            </a:extLst>
          </p:cNvPr>
          <p:cNvSpPr>
            <a:spLocks noGrp="1"/>
          </p:cNvSpPr>
          <p:nvPr>
            <p:ph idx="1"/>
          </p:nvPr>
        </p:nvSpPr>
        <p:spPr>
          <a:xfrm>
            <a:off x="371094" y="2718054"/>
            <a:ext cx="3184906" cy="3207258"/>
          </a:xfrm>
        </p:spPr>
        <p:txBody>
          <a:bodyPr vert="horz" lIns="91440" tIns="45720" rIns="91440" bIns="45720" rtlCol="0" anchor="t">
            <a:normAutofit/>
          </a:bodyPr>
          <a:lstStyle/>
          <a:p>
            <a:pPr marL="0" indent="0">
              <a:buNone/>
            </a:pPr>
            <a:r>
              <a:rPr lang="nl-NL" sz="1600" dirty="0"/>
              <a:t>Heb je je meubels getekend? Dan kun je aan de slag met de vloeren. Deze teken je in door de vloer op schaal na te tekenen. Je hoeft de vloer niet over de hele tekening te tekenen. Je tekent een stukje, zodat diegene die de plattegrond ziet, weet dat wat voor vloer er in zit. Zie voorbeeld hiernaast.   </a:t>
            </a:r>
            <a:endParaRPr lang="nl-NL" sz="1600" dirty="0">
              <a:cs typeface="Calibri"/>
            </a:endParaRPr>
          </a:p>
        </p:txBody>
      </p:sp>
      <p:pic>
        <p:nvPicPr>
          <p:cNvPr id="5" name="Afbeelding 4" descr="Afbeelding met binnen&#10;&#10;Automatisch gegenereerde beschrijving">
            <a:extLst>
              <a:ext uri="{FF2B5EF4-FFF2-40B4-BE49-F238E27FC236}">
                <a16:creationId xmlns:a16="http://schemas.microsoft.com/office/drawing/2014/main" id="{56DD4212-B271-40FB-943D-4B6D380D817B}"/>
              </a:ext>
            </a:extLst>
          </p:cNvPr>
          <p:cNvPicPr>
            <a:picLocks noChangeAspect="1"/>
          </p:cNvPicPr>
          <p:nvPr/>
        </p:nvPicPr>
        <p:blipFill rotWithShape="1">
          <a:blip r:embed="rId2"/>
          <a:srcRect r="23298" b="9091"/>
          <a:stretch/>
        </p:blipFill>
        <p:spPr>
          <a:xfrm>
            <a:off x="3523488" y="10"/>
            <a:ext cx="8668512" cy="6857990"/>
          </a:xfrm>
          <a:prstGeom prst="rect">
            <a:avLst/>
          </a:prstGeom>
        </p:spPr>
      </p:pic>
    </p:spTree>
    <p:extLst>
      <p:ext uri="{BB962C8B-B14F-4D97-AF65-F5344CB8AC3E}">
        <p14:creationId xmlns:p14="http://schemas.microsoft.com/office/powerpoint/2010/main" val="1343556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34C588-6CA1-BF49-9705-5721DC95A36F}"/>
              </a:ext>
            </a:extLst>
          </p:cNvPr>
          <p:cNvSpPr>
            <a:spLocks noGrp="1"/>
          </p:cNvSpPr>
          <p:nvPr>
            <p:ph type="title"/>
          </p:nvPr>
        </p:nvSpPr>
        <p:spPr/>
        <p:txBody>
          <a:bodyPr/>
          <a:lstStyle/>
          <a:p>
            <a:r>
              <a:rPr lang="nl-NL" dirty="0"/>
              <a:t>Afronden</a:t>
            </a:r>
          </a:p>
        </p:txBody>
      </p:sp>
      <p:sp>
        <p:nvSpPr>
          <p:cNvPr id="3" name="Tijdelijke aanduiding voor inhoud 2">
            <a:extLst>
              <a:ext uri="{FF2B5EF4-FFF2-40B4-BE49-F238E27FC236}">
                <a16:creationId xmlns:a16="http://schemas.microsoft.com/office/drawing/2014/main" id="{8B318638-B2A6-FD40-86E8-95822EBFF8C3}"/>
              </a:ext>
            </a:extLst>
          </p:cNvPr>
          <p:cNvSpPr>
            <a:spLocks noGrp="1"/>
          </p:cNvSpPr>
          <p:nvPr>
            <p:ph idx="1"/>
          </p:nvPr>
        </p:nvSpPr>
        <p:spPr/>
        <p:txBody>
          <a:bodyPr/>
          <a:lstStyle/>
          <a:p>
            <a:pPr marL="0" indent="0">
              <a:buNone/>
            </a:pPr>
            <a:r>
              <a:rPr lang="nl-NL" dirty="0"/>
              <a:t>Geef je plattegrond kleur! Normaal gesproken doe je dit met alcoholische stiften. Nu doen jullie dat met potloden. </a:t>
            </a:r>
          </a:p>
          <a:p>
            <a:pPr marL="0" indent="0">
              <a:buNone/>
            </a:pPr>
            <a:endParaRPr lang="nl-NL" dirty="0"/>
          </a:p>
          <a:p>
            <a:pPr marL="0" indent="0">
              <a:buNone/>
            </a:pPr>
            <a:r>
              <a:rPr lang="nl-NL" dirty="0"/>
              <a:t>Klaar? </a:t>
            </a:r>
          </a:p>
          <a:p>
            <a:pPr marL="0" indent="0">
              <a:buNone/>
            </a:pPr>
            <a:endParaRPr lang="nl-NL" dirty="0"/>
          </a:p>
          <a:p>
            <a:pPr marL="0" indent="0">
              <a:buNone/>
            </a:pPr>
            <a:r>
              <a:rPr lang="nl-NL" dirty="0"/>
              <a:t>Maak een foto en lever deze in via Magister &gt; opdrachten &gt; plattegrond eindversie. </a:t>
            </a:r>
          </a:p>
        </p:txBody>
      </p:sp>
    </p:spTree>
    <p:extLst>
      <p:ext uri="{BB962C8B-B14F-4D97-AF65-F5344CB8AC3E}">
        <p14:creationId xmlns:p14="http://schemas.microsoft.com/office/powerpoint/2010/main" val="2406588248"/>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FE827560C03C48817C29B1583D0392" ma:contentTypeVersion="21" ma:contentTypeDescription="Een nieuw document maken." ma:contentTypeScope="" ma:versionID="e75c95cc7c3321728408f746b1e1920f">
  <xsd:schema xmlns:xsd="http://www.w3.org/2001/XMLSchema" xmlns:xs="http://www.w3.org/2001/XMLSchema" xmlns:p="http://schemas.microsoft.com/office/2006/metadata/properties" xmlns:ns2="ac3e0885-339a-40ba-9a32-6aa0325af631" xmlns:ns3="2ea1b3fb-03d4-4f3f-b154-8178a3109cf9" targetNamespace="http://schemas.microsoft.com/office/2006/metadata/properties" ma:root="true" ma:fieldsID="4e81b64d7f5affd9ebb27696050cd313" ns2:_="" ns3:_="">
    <xsd:import namespace="ac3e0885-339a-40ba-9a32-6aa0325af631"/>
    <xsd:import namespace="2ea1b3fb-03d4-4f3f-b154-8178a3109cf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ServiceLocation" minOccurs="0"/>
                <xsd:element ref="ns2:MediaServiceOCR" minOccurs="0"/>
                <xsd:element ref="ns3:SharedWithUsers" minOccurs="0"/>
                <xsd:element ref="ns3:SharedWithDetails" minOccurs="0"/>
                <xsd:element ref="ns2:MediaServiceEventHashCode" minOccurs="0"/>
                <xsd:element ref="ns2:MediaServiceGenerationTime" minOccurs="0"/>
                <xsd:element ref="ns2:MediaLengthInSeconds" minOccurs="0"/>
                <xsd:element ref="ns2:MediaServiceAutoKeyPoints" minOccurs="0"/>
                <xsd:element ref="ns2:MediaServiceKeyPoint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3e0885-339a-40ba-9a32-6aa0325af6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Location" ma:index="12" nillable="true" ma:displayName="MediaServiceLocation" ma:internalName="MediaServiceLocation"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lcf76f155ced4ddcb4097134ff3c332f" ma:index="23" nillable="true" ma:taxonomy="true" ma:internalName="lcf76f155ced4ddcb4097134ff3c332f" ma:taxonomyFieldName="MediaServiceImageTags" ma:displayName="Afbeeldingtags" ma:readOnly="false" ma:fieldId="{5cf76f15-5ced-4ddc-b409-7134ff3c332f}" ma:taxonomyMulti="true" ma:sspId="9018b5de-2c44-4b76-94ee-15c6987a7ef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ea1b3fb-03d4-4f3f-b154-8178a3109cf9" elementFormDefault="qualified">
    <xsd:import namespace="http://schemas.microsoft.com/office/2006/documentManagement/types"/>
    <xsd:import namespace="http://schemas.microsoft.com/office/infopath/2007/PartnerControls"/>
    <xsd:element name="SharedWithUsers" ma:index="14"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Gedeeld met details" ma:internalName="SharedWithDetails" ma:readOnly="true">
      <xsd:simpleType>
        <xsd:restriction base="dms:Note">
          <xsd:maxLength value="255"/>
        </xsd:restriction>
      </xsd:simpleType>
    </xsd:element>
    <xsd:element name="TaxCatchAll" ma:index="21" nillable="true" ma:displayName="Taxonomy Catch All Column" ma:hidden="true" ma:list="{541234bf-59d1-4d55-a0e7-df3112323f34}" ma:internalName="TaxCatchAll" ma:showField="CatchAllData" ma:web="2ea1b3fb-03d4-4f3f-b154-8178a3109c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c3e0885-339a-40ba-9a32-6aa0325af631">
      <Terms xmlns="http://schemas.microsoft.com/office/infopath/2007/PartnerControls"/>
    </lcf76f155ced4ddcb4097134ff3c332f>
    <TaxCatchAll xmlns="2ea1b3fb-03d4-4f3f-b154-8178a3109cf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304E916-0171-4B55-9E10-11E95F48CF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3e0885-339a-40ba-9a32-6aa0325af631"/>
    <ds:schemaRef ds:uri="2ea1b3fb-03d4-4f3f-b154-8178a3109c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5F5C0CC-0C33-46E1-9A98-F145F12D0924}">
  <ds:schemaRefs>
    <ds:schemaRef ds:uri="2ea1b3fb-03d4-4f3f-b154-8178a3109cf9"/>
    <ds:schemaRef ds:uri="ac3e0885-339a-40ba-9a32-6aa0325af631"/>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6557202-A7C5-4EBA-A01D-C70E7150460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8693</TotalTime>
  <Words>607</Words>
  <Application>Microsoft Office PowerPoint</Application>
  <PresentationFormat>Breedbeeld</PresentationFormat>
  <Paragraphs>63</Paragraphs>
  <Slides>17</Slides>
  <Notes>1</Notes>
  <HiddenSlides>0</HiddenSlides>
  <MMClips>0</MMClips>
  <ScaleCrop>false</ScaleCrop>
  <HeadingPairs>
    <vt:vector size="6" baseType="variant">
      <vt:variant>
        <vt:lpstr>Gebruikte lettertypen</vt:lpstr>
      </vt:variant>
      <vt:variant>
        <vt:i4>7</vt:i4>
      </vt:variant>
      <vt:variant>
        <vt:lpstr>Thema</vt:lpstr>
      </vt:variant>
      <vt:variant>
        <vt:i4>2</vt:i4>
      </vt:variant>
      <vt:variant>
        <vt:lpstr>Diatitels</vt:lpstr>
      </vt:variant>
      <vt:variant>
        <vt:i4>17</vt:i4>
      </vt:variant>
    </vt:vector>
  </HeadingPairs>
  <TitlesOfParts>
    <vt:vector size="26" baseType="lpstr">
      <vt:lpstr>Aptos</vt:lpstr>
      <vt:lpstr>Arial</vt:lpstr>
      <vt:lpstr>Calibri</vt:lpstr>
      <vt:lpstr>Calibri Light</vt:lpstr>
      <vt:lpstr>Univers Condensed Light</vt:lpstr>
      <vt:lpstr>Walbaum Display Light</vt:lpstr>
      <vt:lpstr>Wingdings</vt:lpstr>
      <vt:lpstr>Kantoorthema</vt:lpstr>
      <vt:lpstr>AngleLinesVTI</vt:lpstr>
      <vt:lpstr>Plattegrond tekenen</vt:lpstr>
      <vt:lpstr>Leerdoelen</vt:lpstr>
      <vt:lpstr>Waarom leer je dit?</vt:lpstr>
      <vt:lpstr>Wat ga je doen?</vt:lpstr>
      <vt:lpstr>Opdracht 1 (huiswerk)</vt:lpstr>
      <vt:lpstr>Opdracht 2: de nette plattegrond</vt:lpstr>
      <vt:lpstr>PowerPoint-presentatie</vt:lpstr>
      <vt:lpstr>PowerPoint-presentatie</vt:lpstr>
      <vt:lpstr>De rekensom:</vt:lpstr>
      <vt:lpstr>PowerPoint-presentatie</vt:lpstr>
      <vt:lpstr>PowerPoint-presentatie</vt:lpstr>
      <vt:lpstr>PowerPoint-presentatie</vt:lpstr>
      <vt:lpstr>PowerPoint-presentatie</vt:lpstr>
      <vt:lpstr>PowerPoint-presentatie</vt:lpstr>
      <vt:lpstr>PowerPoint-presentatie</vt:lpstr>
      <vt:lpstr>Opdracht 3</vt:lpstr>
      <vt:lpstr>Afronden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Plattegrond tekenen</dc:title>
  <dc:creator>Carly de Groot</dc:creator>
  <cp:lastModifiedBy>Jasper Huiting</cp:lastModifiedBy>
  <cp:revision>98</cp:revision>
  <dcterms:created xsi:type="dcterms:W3CDTF">2021-01-18T07:59:40Z</dcterms:created>
  <dcterms:modified xsi:type="dcterms:W3CDTF">2026-09-01T12:34:30Z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0x010100C2FE827560C03C48817C29B1583D0392</vt:lpwstr>
  </property>
  <property fmtid="{D5CDD505-2E9C-101B-9397-08002B2CF9AE}" pid="3" name="MediaServiceImageTags">
    <vt:lpwstr/>
  </property>
</Properties>
</file>